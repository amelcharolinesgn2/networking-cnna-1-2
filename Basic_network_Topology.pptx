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42"/>
  </p:notesMasterIdLst>
  <p:sldIdLst>
    <p:sldId id="370" r:id="rId2"/>
    <p:sldId id="403" r:id="rId3"/>
    <p:sldId id="402" r:id="rId4"/>
    <p:sldId id="401" r:id="rId5"/>
    <p:sldId id="406" r:id="rId6"/>
    <p:sldId id="404" r:id="rId7"/>
    <p:sldId id="384" r:id="rId8"/>
    <p:sldId id="405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1" r:id="rId40"/>
    <p:sldId id="38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943" autoAdjust="0"/>
  </p:normalViewPr>
  <p:slideViewPr>
    <p:cSldViewPr snapToGrid="0">
      <p:cViewPr varScale="1">
        <p:scale>
          <a:sx n="69" d="100"/>
          <a:sy n="69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7835E-A310-4AE2-B20D-215C69C983D7}" type="doc">
      <dgm:prSet loTypeId="urn:microsoft.com/office/officeart/2005/8/layout/radial4" loCatId="relationship" qsTypeId="urn:microsoft.com/office/officeart/2009/2/quickstyle/3d8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6EFF303-8B0E-4806-9D72-5108A252096E}">
      <dgm:prSet phldrT="[Text]"/>
      <dgm:spPr/>
      <dgm:t>
        <a:bodyPr/>
        <a:lstStyle/>
        <a:p>
          <a:r>
            <a:rPr lang="en-US" dirty="0"/>
            <a:t>SISTEM JARINGAN KOMPUTER</a:t>
          </a:r>
        </a:p>
      </dgm:t>
    </dgm:pt>
    <dgm:pt modelId="{FB91CFE3-73AC-4E0B-BC4C-CF2215C0FEDF}" type="parTrans" cxnId="{AB6490F0-31A2-41D9-BC27-F84D81627F56}">
      <dgm:prSet/>
      <dgm:spPr/>
      <dgm:t>
        <a:bodyPr/>
        <a:lstStyle/>
        <a:p>
          <a:endParaRPr lang="en-US"/>
        </a:p>
      </dgm:t>
    </dgm:pt>
    <dgm:pt modelId="{FE6A02A4-E32C-4AEF-B260-E2706F0739AB}" type="sibTrans" cxnId="{AB6490F0-31A2-41D9-BC27-F84D81627F56}">
      <dgm:prSet/>
      <dgm:spPr/>
      <dgm:t>
        <a:bodyPr/>
        <a:lstStyle/>
        <a:p>
          <a:endParaRPr lang="en-US"/>
        </a:p>
      </dgm:t>
    </dgm:pt>
    <dgm:pt modelId="{A8E72BD4-BB25-4067-884E-CFA402B97619}">
      <dgm:prSet phldrT="[Text]"/>
      <dgm:spPr/>
      <dgm:t>
        <a:bodyPr/>
        <a:lstStyle/>
        <a:p>
          <a:r>
            <a:rPr lang="en-US" dirty="0"/>
            <a:t>ADMINISTRATOR</a:t>
          </a:r>
        </a:p>
      </dgm:t>
    </dgm:pt>
    <dgm:pt modelId="{CFA2826F-6B97-4514-A68E-A95EC0DD2E39}" type="parTrans" cxnId="{F8674411-FC0F-4BE6-9A95-9FBF4B8BE66C}">
      <dgm:prSet/>
      <dgm:spPr/>
      <dgm:t>
        <a:bodyPr/>
        <a:lstStyle/>
        <a:p>
          <a:endParaRPr lang="en-US"/>
        </a:p>
      </dgm:t>
    </dgm:pt>
    <dgm:pt modelId="{054A08AD-EFC6-431C-9F38-C19717A3F1D0}" type="sibTrans" cxnId="{F8674411-FC0F-4BE6-9A95-9FBF4B8BE66C}">
      <dgm:prSet/>
      <dgm:spPr/>
      <dgm:t>
        <a:bodyPr/>
        <a:lstStyle/>
        <a:p>
          <a:endParaRPr lang="en-US"/>
        </a:p>
      </dgm:t>
    </dgm:pt>
    <dgm:pt modelId="{6F75733E-7EDB-4975-9AB6-3A0519EE193B}">
      <dgm:prSet phldrT="[Text]"/>
      <dgm:spPr/>
      <dgm:t>
        <a:bodyPr/>
        <a:lstStyle/>
        <a:p>
          <a:r>
            <a:rPr lang="en-US" dirty="0"/>
            <a:t>USER</a:t>
          </a:r>
        </a:p>
      </dgm:t>
    </dgm:pt>
    <dgm:pt modelId="{A5D3FA43-BA28-4E54-BB71-EA3B1E3006D9}" type="parTrans" cxnId="{4E4A244D-C145-43A0-8B1F-4EA8210F0E54}">
      <dgm:prSet/>
      <dgm:spPr/>
      <dgm:t>
        <a:bodyPr/>
        <a:lstStyle/>
        <a:p>
          <a:endParaRPr lang="en-US"/>
        </a:p>
      </dgm:t>
    </dgm:pt>
    <dgm:pt modelId="{243B5C6D-E21C-4229-B88E-718A46842FFD}" type="sibTrans" cxnId="{4E4A244D-C145-43A0-8B1F-4EA8210F0E54}">
      <dgm:prSet/>
      <dgm:spPr/>
      <dgm:t>
        <a:bodyPr/>
        <a:lstStyle/>
        <a:p>
          <a:endParaRPr lang="en-US"/>
        </a:p>
      </dgm:t>
    </dgm:pt>
    <dgm:pt modelId="{6AE8C974-B11B-455A-8D17-900C56E6A295}">
      <dgm:prSet phldrT="[Text]"/>
      <dgm:spPr/>
      <dgm:t>
        <a:bodyPr/>
        <a:lstStyle/>
        <a:p>
          <a:r>
            <a:rPr lang="en-US" dirty="0"/>
            <a:t>SERVICE</a:t>
          </a:r>
        </a:p>
        <a:p>
          <a:r>
            <a:rPr lang="en-US" dirty="0"/>
            <a:t>(LAYANAN)</a:t>
          </a:r>
        </a:p>
      </dgm:t>
    </dgm:pt>
    <dgm:pt modelId="{B92E123F-D3D2-43DA-AA3C-C3AE9B4D7AA2}" type="parTrans" cxnId="{3F19373B-6A9D-458E-ADEA-93CCFE3E6876}">
      <dgm:prSet/>
      <dgm:spPr/>
      <dgm:t>
        <a:bodyPr/>
        <a:lstStyle/>
        <a:p>
          <a:endParaRPr lang="en-US"/>
        </a:p>
      </dgm:t>
    </dgm:pt>
    <dgm:pt modelId="{BE993500-7F8D-42D0-8EA5-4F4FF911F3F6}" type="sibTrans" cxnId="{3F19373B-6A9D-458E-ADEA-93CCFE3E6876}">
      <dgm:prSet/>
      <dgm:spPr/>
      <dgm:t>
        <a:bodyPr/>
        <a:lstStyle/>
        <a:p>
          <a:endParaRPr lang="en-US"/>
        </a:p>
      </dgm:t>
    </dgm:pt>
    <dgm:pt modelId="{BEFD2026-E3B1-495C-BFE7-C18AFADDB8D1}" type="pres">
      <dgm:prSet presAssocID="{5907835E-A310-4AE2-B20D-215C69C983D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099621B-9126-44CE-A20B-E3E0DAD3BEAD}" type="pres">
      <dgm:prSet presAssocID="{F6EFF303-8B0E-4806-9D72-5108A252096E}" presName="centerShape" presStyleLbl="node0" presStyleIdx="0" presStyleCnt="1"/>
      <dgm:spPr/>
      <dgm:t>
        <a:bodyPr/>
        <a:lstStyle/>
        <a:p>
          <a:endParaRPr lang="en-US"/>
        </a:p>
      </dgm:t>
    </dgm:pt>
    <dgm:pt modelId="{67C24906-A99E-46C7-BB56-546B72F87A54}" type="pres">
      <dgm:prSet presAssocID="{CFA2826F-6B97-4514-A68E-A95EC0DD2E39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0FD589B2-761A-4551-BB47-3F0098D29481}" type="pres">
      <dgm:prSet presAssocID="{A8E72BD4-BB25-4067-884E-CFA402B9761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F693C1-4098-4379-B719-682BEEE93F0B}" type="pres">
      <dgm:prSet presAssocID="{A5D3FA43-BA28-4E54-BB71-EA3B1E3006D9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51E0A890-B25B-48F7-8C69-E676B2C822EB}" type="pres">
      <dgm:prSet presAssocID="{6F75733E-7EDB-4975-9AB6-3A0519EE193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6CEC9A-8137-4190-A447-302054F82EF8}" type="pres">
      <dgm:prSet presAssocID="{B92E123F-D3D2-43DA-AA3C-C3AE9B4D7AA2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5181A059-DA9F-4D8D-9788-2F5631ACDBF2}" type="pres">
      <dgm:prSet presAssocID="{6AE8C974-B11B-455A-8D17-900C56E6A29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87F0D5-2ABC-4E6B-BF70-37DBA6560643}" type="presOf" srcId="{F6EFF303-8B0E-4806-9D72-5108A252096E}" destId="{F099621B-9126-44CE-A20B-E3E0DAD3BEAD}" srcOrd="0" destOrd="0" presId="urn:microsoft.com/office/officeart/2005/8/layout/radial4"/>
    <dgm:cxn modelId="{DCF6DDBC-E03E-498E-A963-15942A675EDE}" type="presOf" srcId="{B92E123F-D3D2-43DA-AA3C-C3AE9B4D7AA2}" destId="{FF6CEC9A-8137-4190-A447-302054F82EF8}" srcOrd="0" destOrd="0" presId="urn:microsoft.com/office/officeart/2005/8/layout/radial4"/>
    <dgm:cxn modelId="{AB6490F0-31A2-41D9-BC27-F84D81627F56}" srcId="{5907835E-A310-4AE2-B20D-215C69C983D7}" destId="{F6EFF303-8B0E-4806-9D72-5108A252096E}" srcOrd="0" destOrd="0" parTransId="{FB91CFE3-73AC-4E0B-BC4C-CF2215C0FEDF}" sibTransId="{FE6A02A4-E32C-4AEF-B260-E2706F0739AB}"/>
    <dgm:cxn modelId="{3F19373B-6A9D-458E-ADEA-93CCFE3E6876}" srcId="{F6EFF303-8B0E-4806-9D72-5108A252096E}" destId="{6AE8C974-B11B-455A-8D17-900C56E6A295}" srcOrd="2" destOrd="0" parTransId="{B92E123F-D3D2-43DA-AA3C-C3AE9B4D7AA2}" sibTransId="{BE993500-7F8D-42D0-8EA5-4F4FF911F3F6}"/>
    <dgm:cxn modelId="{4E4A244D-C145-43A0-8B1F-4EA8210F0E54}" srcId="{F6EFF303-8B0E-4806-9D72-5108A252096E}" destId="{6F75733E-7EDB-4975-9AB6-3A0519EE193B}" srcOrd="1" destOrd="0" parTransId="{A5D3FA43-BA28-4E54-BB71-EA3B1E3006D9}" sibTransId="{243B5C6D-E21C-4229-B88E-718A46842FFD}"/>
    <dgm:cxn modelId="{03887F38-9302-4971-8DF4-9059F70A44AB}" type="presOf" srcId="{A8E72BD4-BB25-4067-884E-CFA402B97619}" destId="{0FD589B2-761A-4551-BB47-3F0098D29481}" srcOrd="0" destOrd="0" presId="urn:microsoft.com/office/officeart/2005/8/layout/radial4"/>
    <dgm:cxn modelId="{CBCC8BD1-76FF-4741-BC11-63C7B3BEE954}" type="presOf" srcId="{5907835E-A310-4AE2-B20D-215C69C983D7}" destId="{BEFD2026-E3B1-495C-BFE7-C18AFADDB8D1}" srcOrd="0" destOrd="0" presId="urn:microsoft.com/office/officeart/2005/8/layout/radial4"/>
    <dgm:cxn modelId="{E217B930-0C6C-4938-B024-671361220A19}" type="presOf" srcId="{6F75733E-7EDB-4975-9AB6-3A0519EE193B}" destId="{51E0A890-B25B-48F7-8C69-E676B2C822EB}" srcOrd="0" destOrd="0" presId="urn:microsoft.com/office/officeart/2005/8/layout/radial4"/>
    <dgm:cxn modelId="{27CDC95C-B8C2-4FDD-996F-8A495713A6B9}" type="presOf" srcId="{6AE8C974-B11B-455A-8D17-900C56E6A295}" destId="{5181A059-DA9F-4D8D-9788-2F5631ACDBF2}" srcOrd="0" destOrd="0" presId="urn:microsoft.com/office/officeart/2005/8/layout/radial4"/>
    <dgm:cxn modelId="{BCD55A82-426F-4030-907B-6C9400F86DCD}" type="presOf" srcId="{CFA2826F-6B97-4514-A68E-A95EC0DD2E39}" destId="{67C24906-A99E-46C7-BB56-546B72F87A54}" srcOrd="0" destOrd="0" presId="urn:microsoft.com/office/officeart/2005/8/layout/radial4"/>
    <dgm:cxn modelId="{F8674411-FC0F-4BE6-9A95-9FBF4B8BE66C}" srcId="{F6EFF303-8B0E-4806-9D72-5108A252096E}" destId="{A8E72BD4-BB25-4067-884E-CFA402B97619}" srcOrd="0" destOrd="0" parTransId="{CFA2826F-6B97-4514-A68E-A95EC0DD2E39}" sibTransId="{054A08AD-EFC6-431C-9F38-C19717A3F1D0}"/>
    <dgm:cxn modelId="{7741DC59-2075-4BD2-B855-F0C5D9B39F39}" type="presOf" srcId="{A5D3FA43-BA28-4E54-BB71-EA3B1E3006D9}" destId="{B1F693C1-4098-4379-B719-682BEEE93F0B}" srcOrd="0" destOrd="0" presId="urn:microsoft.com/office/officeart/2005/8/layout/radial4"/>
    <dgm:cxn modelId="{184398CE-8393-4C99-BC53-C1D07DE5A833}" type="presParOf" srcId="{BEFD2026-E3B1-495C-BFE7-C18AFADDB8D1}" destId="{F099621B-9126-44CE-A20B-E3E0DAD3BEAD}" srcOrd="0" destOrd="0" presId="urn:microsoft.com/office/officeart/2005/8/layout/radial4"/>
    <dgm:cxn modelId="{4B6ADD51-C837-48D5-BD69-4E2E504AFF82}" type="presParOf" srcId="{BEFD2026-E3B1-495C-BFE7-C18AFADDB8D1}" destId="{67C24906-A99E-46C7-BB56-546B72F87A54}" srcOrd="1" destOrd="0" presId="urn:microsoft.com/office/officeart/2005/8/layout/radial4"/>
    <dgm:cxn modelId="{DF14BBDE-305D-4362-B220-33DCBF38250A}" type="presParOf" srcId="{BEFD2026-E3B1-495C-BFE7-C18AFADDB8D1}" destId="{0FD589B2-761A-4551-BB47-3F0098D29481}" srcOrd="2" destOrd="0" presId="urn:microsoft.com/office/officeart/2005/8/layout/radial4"/>
    <dgm:cxn modelId="{2EB66073-8488-4F89-8759-8BFA8AC3F01D}" type="presParOf" srcId="{BEFD2026-E3B1-495C-BFE7-C18AFADDB8D1}" destId="{B1F693C1-4098-4379-B719-682BEEE93F0B}" srcOrd="3" destOrd="0" presId="urn:microsoft.com/office/officeart/2005/8/layout/radial4"/>
    <dgm:cxn modelId="{94C498C6-BA9C-4F34-94F4-C68C4CA3C554}" type="presParOf" srcId="{BEFD2026-E3B1-495C-BFE7-C18AFADDB8D1}" destId="{51E0A890-B25B-48F7-8C69-E676B2C822EB}" srcOrd="4" destOrd="0" presId="urn:microsoft.com/office/officeart/2005/8/layout/radial4"/>
    <dgm:cxn modelId="{78A632BE-C464-4D69-9F31-FC34A606002A}" type="presParOf" srcId="{BEFD2026-E3B1-495C-BFE7-C18AFADDB8D1}" destId="{FF6CEC9A-8137-4190-A447-302054F82EF8}" srcOrd="5" destOrd="0" presId="urn:microsoft.com/office/officeart/2005/8/layout/radial4"/>
    <dgm:cxn modelId="{4900787D-CFAD-42C6-A8A2-570AD53AAF69}" type="presParOf" srcId="{BEFD2026-E3B1-495C-BFE7-C18AFADDB8D1}" destId="{5181A059-DA9F-4D8D-9788-2F5631ACDBF2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9621B-9126-44CE-A20B-E3E0DAD3BEAD}">
      <dsp:nvSpPr>
        <dsp:cNvPr id="0" name=""/>
        <dsp:cNvSpPr/>
      </dsp:nvSpPr>
      <dsp:spPr>
        <a:xfrm>
          <a:off x="2950388" y="2364822"/>
          <a:ext cx="1985923" cy="19859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SISTEM JARINGAN KOMPUTER</a:t>
          </a:r>
        </a:p>
      </dsp:txBody>
      <dsp:txXfrm>
        <a:off x="3241220" y="2655654"/>
        <a:ext cx="1404259" cy="1404259"/>
      </dsp:txXfrm>
    </dsp:sp>
    <dsp:sp modelId="{67C24906-A99E-46C7-BB56-546B72F87A54}">
      <dsp:nvSpPr>
        <dsp:cNvPr id="0" name=""/>
        <dsp:cNvSpPr/>
      </dsp:nvSpPr>
      <dsp:spPr>
        <a:xfrm rot="12900000">
          <a:off x="1673933" y="2018253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589B2-761A-4551-BB47-3F0098D29481}">
      <dsp:nvSpPr>
        <dsp:cNvPr id="0" name=""/>
        <dsp:cNvSpPr/>
      </dsp:nvSpPr>
      <dsp:spPr>
        <a:xfrm>
          <a:off x="868159" y="1110376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ADMINISTRATOR</a:t>
          </a:r>
        </a:p>
      </dsp:txBody>
      <dsp:txXfrm>
        <a:off x="912365" y="1154582"/>
        <a:ext cx="1798215" cy="1420889"/>
      </dsp:txXfrm>
    </dsp:sp>
    <dsp:sp modelId="{B1F693C1-4098-4379-B719-682BEEE93F0B}">
      <dsp:nvSpPr>
        <dsp:cNvPr id="0" name=""/>
        <dsp:cNvSpPr/>
      </dsp:nvSpPr>
      <dsp:spPr>
        <a:xfrm rot="16200000">
          <a:off x="3182823" y="1232775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E0A890-B25B-48F7-8C69-E676B2C822EB}">
      <dsp:nvSpPr>
        <dsp:cNvPr id="0" name=""/>
        <dsp:cNvSpPr/>
      </dsp:nvSpPr>
      <dsp:spPr>
        <a:xfrm>
          <a:off x="3000036" y="592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USER</a:t>
          </a:r>
        </a:p>
      </dsp:txBody>
      <dsp:txXfrm>
        <a:off x="3044242" y="44798"/>
        <a:ext cx="1798215" cy="1420889"/>
      </dsp:txXfrm>
    </dsp:sp>
    <dsp:sp modelId="{FF6CEC9A-8137-4190-A447-302054F82EF8}">
      <dsp:nvSpPr>
        <dsp:cNvPr id="0" name=""/>
        <dsp:cNvSpPr/>
      </dsp:nvSpPr>
      <dsp:spPr>
        <a:xfrm rot="19500000">
          <a:off x="4691713" y="2018253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81A059-DA9F-4D8D-9788-2F5631ACDBF2}">
      <dsp:nvSpPr>
        <dsp:cNvPr id="0" name=""/>
        <dsp:cNvSpPr/>
      </dsp:nvSpPr>
      <dsp:spPr>
        <a:xfrm>
          <a:off x="5131913" y="1110376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SERVICE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(LAYANAN)</a:t>
          </a:r>
        </a:p>
      </dsp:txBody>
      <dsp:txXfrm>
        <a:off x="5176119" y="1154582"/>
        <a:ext cx="1798215" cy="1420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Ubuntu 20 Server on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VirtualBox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Node.js App</a:t>
            </a:r>
          </a:p>
          <a:p>
            <a:r>
              <a:rPr lang="en-US" dirty="0" smtClean="0"/>
              <a:t>https://github.com/NawalAShaltout/OS-02-/tree/main/Lab-03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63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4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73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https://www.idn.id/apa-itu-jaringan-pan-lan-man-dan-wan/</a:t>
            </a:r>
          </a:p>
          <a:p>
            <a:r>
              <a:rPr lang="en-US" dirty="0" smtClean="0"/>
              <a:t>https://kingofnetworking.weebly.com/different-types-of-computer-networks.html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32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https://catatanteknisi.com/apa-itu-jaringan-komputer/</a:t>
            </a:r>
          </a:p>
          <a:p>
            <a:r>
              <a:rPr lang="en-US" dirty="0" smtClean="0"/>
              <a:t>https://makassarstore.co.id/keuntungan-jaringan-local-area-network/</a:t>
            </a:r>
          </a:p>
          <a:p>
            <a:endParaRPr lang="en-US" dirty="0" smtClean="0"/>
          </a:p>
          <a:p>
            <a:r>
              <a:rPr lang="en-US" dirty="0" smtClean="0"/>
              <a:t>https://networking.indo-solution.com/cara-membangun-jaringan-lan-untuk-lab-sekolah/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4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https://networkingpeopletogether.blogspot.com/2012/01/mengenal-kabel-ethernet-cat-5.html?m=0</a:t>
            </a:r>
          </a:p>
          <a:p>
            <a:endParaRPr lang="en-US" dirty="0" smtClean="0"/>
          </a:p>
          <a:p>
            <a:r>
              <a:rPr lang="en-US" dirty="0" smtClean="0"/>
              <a:t>https://muslimpribadi.wordpress.com/2011/03/14/mengapa-pengkabelan-utp-harus-mengikuti-standar-t568a-atau-t568b/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25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https://catatanteknisi.com/apa-itu-jaringan-komputer/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00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9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4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gif"/><Relationship Id="rId3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8911525" y="5781051"/>
            <a:ext cx="34850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27402" y="5596385"/>
            <a:ext cx="21645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https://github.com/siagianp</a:t>
            </a:r>
          </a:p>
        </p:txBody>
      </p:sp>
      <p:sp>
        <p:nvSpPr>
          <p:cNvPr id="2" name="Rectangle 1"/>
          <p:cNvSpPr/>
          <p:nvPr/>
        </p:nvSpPr>
        <p:spPr>
          <a:xfrm>
            <a:off x="7609668" y="5965717"/>
            <a:ext cx="4889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</a:t>
            </a:r>
            <a:r>
              <a:rPr lang="en-US" sz="1200" dirty="0" smtClean="0"/>
              <a:t>://github.com/amelcharolinesgn2/IoT_simulator-mqtt-NodeRed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3138827" y="3783967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 smtClean="0">
                <a:solidFill>
                  <a:srgbClr val="002060"/>
                </a:solidFill>
              </a:rPr>
              <a:t>Network Topology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221058" y="3865316"/>
            <a:ext cx="8567391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2" algn="just"/>
            <a:r>
              <a:rPr lang="en-US" sz="3200" dirty="0" smtClean="0">
                <a:solidFill>
                  <a:srgbClr val="00B0F0"/>
                </a:solidFill>
              </a:rPr>
              <a:t>Network Topology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3920" y="6150383"/>
            <a:ext cx="39880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https://github.com/amelcharolinesgn2/Cloud-Infrastructures</a:t>
            </a:r>
          </a:p>
        </p:txBody>
      </p:sp>
    </p:spTree>
    <p:extLst>
      <p:ext uri="{BB962C8B-B14F-4D97-AF65-F5344CB8AC3E}">
        <p14:creationId xmlns:p14="http://schemas.microsoft.com/office/powerpoint/2010/main" val="111495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690688"/>
            <a:ext cx="80581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082" y="1482868"/>
            <a:ext cx="5884718" cy="512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7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97419">
            <a:off x="7399897" y="5277130"/>
            <a:ext cx="1953498" cy="13137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41" y="1690688"/>
            <a:ext cx="6924243" cy="3825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34979">
            <a:off x="9369656" y="5459641"/>
            <a:ext cx="1643814" cy="121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745" y="5695574"/>
            <a:ext cx="1309255" cy="891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925" y="3284625"/>
            <a:ext cx="33432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1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78834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Server ?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3552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C000"/>
                </a:solidFill>
              </a:rPr>
              <a:t>Client ?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2673" y="2542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Distribusi</a:t>
            </a:r>
            <a:r>
              <a:rPr lang="en-US" dirty="0" smtClean="0"/>
              <a:t> Packet Data ????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251" y="2144228"/>
            <a:ext cx="5432007" cy="41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Administrasi</a:t>
            </a:r>
            <a:r>
              <a:rPr lang="en-US" dirty="0" smtClean="0"/>
              <a:t> </a:t>
            </a:r>
            <a:r>
              <a:rPr lang="en-US" dirty="0" err="1" smtClean="0"/>
              <a:t>Jaringan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8816" y="1506022"/>
            <a:ext cx="1940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Managing Devices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219" y="2158109"/>
            <a:ext cx="4895512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2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Hardware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813" y="2290421"/>
            <a:ext cx="6657975" cy="3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6DF9-0E2C-4774-956F-E3867CDD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KOMPONEN SISTEM JARINGAN KOMPUTER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CC5439-2DF1-4EE8-832E-EABA1B913BFF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2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1B0F-DF75-4A0F-A2D9-5AA17C26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3237-8C56-4BD1-AA95-B668D1ECB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Seseorang</a:t>
            </a:r>
            <a:r>
              <a:rPr lang="en-US" dirty="0"/>
              <a:t> yang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menginstall</a:t>
            </a:r>
            <a:r>
              <a:rPr lang="en-US" dirty="0"/>
              <a:t>, </a:t>
            </a:r>
            <a:r>
              <a:rPr lang="en-US" dirty="0" err="1"/>
              <a:t>mengkonfigurasi</a:t>
            </a:r>
            <a:r>
              <a:rPr lang="en-US" dirty="0"/>
              <a:t>, dan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Local Area Network (LAN), Wide Area Network (WAN), dan </a:t>
            </a:r>
            <a:r>
              <a:rPr lang="en-US" dirty="0" err="1"/>
              <a:t>sistem</a:t>
            </a:r>
            <a:r>
              <a:rPr lang="en-US" dirty="0"/>
              <a:t> Internet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segmen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</a:p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memantau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pemeliharaan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24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F19D-63E8-4EC8-852C-FEFD5CE4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764373"/>
            <a:ext cx="7806690" cy="635802"/>
          </a:xfrm>
        </p:spPr>
        <p:txBody>
          <a:bodyPr>
            <a:normAutofit/>
          </a:bodyPr>
          <a:lstStyle/>
          <a:p>
            <a:r>
              <a:rPr lang="en-US" sz="3200" b="1" dirty="0"/>
              <a:t>LAYANAN JARINGAN KOMPUTER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E7EA-FAED-4126-941B-7C69E67D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360" y="1400176"/>
            <a:ext cx="7955280" cy="486346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?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  <a:p>
            <a:pPr lvl="2"/>
            <a:r>
              <a:rPr lang="en-US" b="1" i="1" dirty="0"/>
              <a:t>IP, Routing, Domain Name System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digital</a:t>
            </a:r>
          </a:p>
          <a:p>
            <a:pPr lvl="2"/>
            <a:r>
              <a:rPr lang="en-US" b="1" i="1" dirty="0"/>
              <a:t>Web, video streaming, voice over internet, </a:t>
            </a:r>
            <a:r>
              <a:rPr lang="en-US" b="1" i="1" dirty="0" err="1"/>
              <a:t>etc</a:t>
            </a:r>
            <a:r>
              <a:rPr lang="en-US" b="1" i="1" dirty="0"/>
              <a:t>?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tukar-menukar</a:t>
            </a:r>
            <a:r>
              <a:rPr lang="en-US" dirty="0"/>
              <a:t> data</a:t>
            </a:r>
          </a:p>
          <a:p>
            <a:pPr lvl="2"/>
            <a:r>
              <a:rPr lang="en-US" b="1" i="1" dirty="0"/>
              <a:t>FTP, file sharing, file hosting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elektronis</a:t>
            </a:r>
            <a:endParaRPr lang="en-US" dirty="0"/>
          </a:p>
          <a:p>
            <a:pPr lvl="2"/>
            <a:r>
              <a:rPr lang="en-US" b="1" i="1" dirty="0"/>
              <a:t>Mail server, webmail interface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virtual (cloud computing)</a:t>
            </a:r>
          </a:p>
          <a:p>
            <a:pPr lvl="2"/>
            <a:r>
              <a:rPr lang="en-US" b="1" i="1" dirty="0"/>
              <a:t>AWS, Google Cloud Platform, </a:t>
            </a:r>
            <a:r>
              <a:rPr lang="en-US" b="1" i="1" dirty="0" err="1"/>
              <a:t>etc</a:t>
            </a:r>
            <a:endParaRPr lang="en-US" b="1" i="1" dirty="0"/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(</a:t>
            </a:r>
            <a:r>
              <a:rPr lang="en-US" b="1" i="1" dirty="0"/>
              <a:t>Quality of Services</a:t>
            </a:r>
            <a:r>
              <a:rPr lang="en-US" dirty="0"/>
              <a:t>)</a:t>
            </a:r>
          </a:p>
          <a:p>
            <a:pPr lvl="2"/>
            <a:r>
              <a:rPr lang="en-US" b="1" i="1" dirty="0"/>
              <a:t>Throughput, Latency, Response Time, Bandwidth management</a:t>
            </a:r>
          </a:p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oleh “user”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sehari-hari</a:t>
            </a:r>
            <a:endParaRPr lang="en-US" dirty="0"/>
          </a:p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diinstall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berjalan</a:t>
            </a:r>
            <a:r>
              <a:rPr lang="en-US" dirty="0"/>
              <a:t> pada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kompleks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2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1506-41AD-4261-925B-FA8CEEA0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62939-4309-4564-B938-51FF9BEC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Pengguna</a:t>
            </a:r>
            <a:r>
              <a:rPr lang="en-US" dirty="0"/>
              <a:t> yang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r>
              <a:rPr lang="en-US" dirty="0"/>
              <a:t>User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pemilik</a:t>
            </a:r>
            <a:r>
              <a:rPr lang="en-US" dirty="0"/>
              <a:t>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penyewa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pPr lvl="1"/>
            <a:r>
              <a:rPr lang="en-US" dirty="0" err="1"/>
              <a:t>Pemilik</a:t>
            </a:r>
            <a:endParaRPr lang="en-US" dirty="0"/>
          </a:p>
          <a:p>
            <a:pPr lvl="2"/>
            <a:r>
              <a:rPr lang="en-US" dirty="0"/>
              <a:t>Orang/</a:t>
            </a:r>
            <a:r>
              <a:rPr lang="en-US" dirty="0" err="1"/>
              <a:t>organisasi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,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teknologi-teknologi</a:t>
            </a:r>
            <a:r>
              <a:rPr lang="en-US" dirty="0"/>
              <a:t> </a:t>
            </a:r>
            <a:r>
              <a:rPr lang="en-US" dirty="0" err="1"/>
              <a:t>penunjang</a:t>
            </a:r>
            <a:endParaRPr lang="en-US" dirty="0"/>
          </a:p>
          <a:p>
            <a:pPr lvl="3"/>
            <a:r>
              <a:rPr lang="en-US" dirty="0" err="1"/>
              <a:t>Contoh</a:t>
            </a:r>
            <a:r>
              <a:rPr lang="en-US" dirty="0"/>
              <a:t> : </a:t>
            </a:r>
            <a:r>
              <a:rPr lang="en-US" dirty="0" err="1"/>
              <a:t>Universitas</a:t>
            </a:r>
            <a:r>
              <a:rPr lang="en-US" dirty="0"/>
              <a:t> dan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akademik</a:t>
            </a:r>
            <a:r>
              <a:rPr lang="en-US" dirty="0"/>
              <a:t>,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ERP (enterprise resource plan),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Kesehatan, dan lain-lain</a:t>
            </a:r>
          </a:p>
          <a:p>
            <a:pPr lvl="1"/>
            <a:r>
              <a:rPr lang="en-US" dirty="0" err="1"/>
              <a:t>Penyewa</a:t>
            </a:r>
            <a:endParaRPr lang="en-US" dirty="0"/>
          </a:p>
          <a:p>
            <a:pPr lvl="2"/>
            <a:r>
              <a:rPr lang="en-US" dirty="0"/>
              <a:t>Orang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web hosting, email, browsing internet, dan lain-lain.</a:t>
            </a:r>
          </a:p>
        </p:txBody>
      </p:sp>
    </p:spTree>
    <p:extLst>
      <p:ext uri="{BB962C8B-B14F-4D97-AF65-F5344CB8AC3E}">
        <p14:creationId xmlns:p14="http://schemas.microsoft.com/office/powerpoint/2010/main" val="79085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D52A-E0FF-4E9C-A0A8-43BFA8EC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infrastruktur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komputer</a:t>
            </a: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81326A-3EAD-4A45-B9FF-5806EB27F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unmanaged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518B04-7A38-4606-B766-3B1F7D9021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904D8A-428E-475D-91B7-8FFFE0F38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managed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F285DA-C7AC-465B-8668-8C7644ED69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8B577F5-1CD4-40AB-B727-5CD304B90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134882"/>
            <a:ext cx="4501903" cy="2989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E9B6D7B-34D4-497B-A0DB-EDAFD37DE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1" y="3115805"/>
            <a:ext cx="4404611" cy="3038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08CA3F-1F79-4071-873F-810DD349F432}"/>
              </a:ext>
            </a:extLst>
          </p:cNvPr>
          <p:cNvSpPr txBox="1"/>
          <p:nvPr/>
        </p:nvSpPr>
        <p:spPr>
          <a:xfrm>
            <a:off x="1846584" y="6279232"/>
            <a:ext cx="84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Berikan</a:t>
            </a:r>
            <a:r>
              <a:rPr lang="en-US" b="1" dirty="0"/>
              <a:t> </a:t>
            </a:r>
            <a:r>
              <a:rPr lang="en-US" b="1" dirty="0" err="1"/>
              <a:t>komentarmu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2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155457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4523-EE9C-4EAF-BC1A-9BEC306E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2 – </a:t>
            </a:r>
            <a:r>
              <a:rPr lang="en-US" b="1" dirty="0" err="1"/>
              <a:t>topologi</a:t>
            </a:r>
            <a:r>
              <a:rPr lang="en-US" b="1" dirty="0"/>
              <a:t> data center </a:t>
            </a:r>
            <a:r>
              <a:rPr lang="en-US" b="1" dirty="0" err="1"/>
              <a:t>instansi</a:t>
            </a:r>
            <a:r>
              <a:rPr lang="en-US" b="1" dirty="0"/>
              <a:t> </a:t>
            </a:r>
            <a:r>
              <a:rPr lang="en-US" b="1" dirty="0" err="1"/>
              <a:t>pendidikan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C45DA-F078-4C5F-9F2E-76CAE82D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konvensional</a:t>
            </a:r>
            <a:endParaRPr lang="en-US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3D410F-0D92-4287-943C-B79713CEE0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279" y="3132668"/>
            <a:ext cx="3398340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BA7F5-5740-4875-8C38-191665C1B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Private cloud IAAS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57289-B35A-4E6A-B425-DA011AE6ED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F9F4686-97B8-4B41-B0E3-273455EBC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038" y="3132667"/>
            <a:ext cx="4101671" cy="313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FB4519-1C52-4F88-B4C7-255A751F3A66}"/>
              </a:ext>
            </a:extLst>
          </p:cNvPr>
          <p:cNvSpPr txBox="1"/>
          <p:nvPr/>
        </p:nvSpPr>
        <p:spPr>
          <a:xfrm>
            <a:off x="1836354" y="6388592"/>
            <a:ext cx="84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Berikan</a:t>
            </a:r>
            <a:r>
              <a:rPr lang="en-US" b="1" dirty="0"/>
              <a:t> </a:t>
            </a:r>
            <a:r>
              <a:rPr lang="en-US" b="1" dirty="0" err="1"/>
              <a:t>komentarmu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2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89489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4415E9-34EB-46AB-BC5D-E2ED8981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Pertanyaan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EF3C08-726F-4D63-8CE4-8A391BB5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Jadi </a:t>
            </a:r>
            <a:r>
              <a:rPr lang="en-US" b="1" dirty="0" err="1"/>
              <a:t>manajemen</a:t>
            </a:r>
            <a:r>
              <a:rPr lang="en-US" b="1" dirty="0"/>
              <a:t> </a:t>
            </a:r>
            <a:r>
              <a:rPr lang="en-US" b="1" dirty="0" err="1"/>
              <a:t>infrasturktur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penting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?</a:t>
            </a:r>
          </a:p>
          <a:p>
            <a:r>
              <a:rPr lang="en-US" b="1" dirty="0" err="1"/>
              <a:t>Siapa</a:t>
            </a:r>
            <a:r>
              <a:rPr lang="en-US" b="1" dirty="0"/>
              <a:t> yang me-manage?</a:t>
            </a:r>
          </a:p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 yang di-manage?</a:t>
            </a:r>
          </a:p>
          <a:p>
            <a:r>
              <a:rPr lang="en-US" b="1" dirty="0" err="1"/>
              <a:t>Bagaimana</a:t>
            </a:r>
            <a:r>
              <a:rPr lang="en-US" b="1" dirty="0"/>
              <a:t> </a:t>
            </a:r>
            <a:r>
              <a:rPr lang="en-US" b="1" dirty="0" err="1"/>
              <a:t>cara</a:t>
            </a:r>
            <a:r>
              <a:rPr lang="en-US" b="1" dirty="0"/>
              <a:t> me-manage?</a:t>
            </a:r>
          </a:p>
        </p:txBody>
      </p:sp>
    </p:spTree>
    <p:extLst>
      <p:ext uri="{BB962C8B-B14F-4D97-AF65-F5344CB8AC3E}">
        <p14:creationId xmlns:p14="http://schemas.microsoft.com/office/powerpoint/2010/main" val="394777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04BC-54FB-4E10-821F-32A53EEC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Who managed?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E33C-CD50-4FFC-B0D2-FCBBDB2ED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Technician</a:t>
            </a:r>
          </a:p>
          <a:p>
            <a:r>
              <a:rPr lang="en-US" dirty="0"/>
              <a:t>Network Administrator</a:t>
            </a:r>
          </a:p>
          <a:p>
            <a:r>
              <a:rPr lang="en-US" dirty="0"/>
              <a:t>System Administrator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552" y="3472630"/>
            <a:ext cx="3733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C862-1CA3-4204-960A-A81EB326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Computer technician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4EA6-BDC5-4C83-836E-11A4E745D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“Desktop” support</a:t>
            </a:r>
          </a:p>
          <a:p>
            <a:pPr lvl="1"/>
            <a:r>
              <a:rPr lang="en-US" altLang="en-US" sz="1800" dirty="0"/>
              <a:t>Responsible for setting up and maintaining the users’ computers.</a:t>
            </a:r>
          </a:p>
          <a:p>
            <a:pPr lvl="1"/>
            <a:r>
              <a:rPr lang="en-US" altLang="en-US" sz="1800" dirty="0"/>
              <a:t>Putting the computers together.</a:t>
            </a:r>
          </a:p>
          <a:p>
            <a:pPr lvl="1"/>
            <a:r>
              <a:rPr lang="en-US" altLang="en-US" sz="1800" dirty="0"/>
              <a:t>Adding new hardware: RAM, CD-ROM drive, Monitor, etc.</a:t>
            </a:r>
          </a:p>
          <a:p>
            <a:pPr lvl="1"/>
            <a:r>
              <a:rPr lang="en-US" altLang="en-US" sz="1800" dirty="0"/>
              <a:t>Installing software</a:t>
            </a:r>
          </a:p>
          <a:p>
            <a:pPr lvl="1"/>
            <a:r>
              <a:rPr lang="en-US" altLang="en-US" sz="1800" dirty="0"/>
              <a:t>Setting up accounts, email, and access to servers</a:t>
            </a:r>
          </a:p>
          <a:p>
            <a:pPr lvl="1"/>
            <a:r>
              <a:rPr lang="en-US" altLang="en-US" sz="1800" dirty="0"/>
              <a:t>Troubleshooting</a:t>
            </a:r>
          </a:p>
          <a:p>
            <a:pPr lvl="1"/>
            <a:r>
              <a:rPr lang="en-US" altLang="en-US" sz="1800" b="1" i="1" dirty="0"/>
              <a:t>Helping users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FE20E43-2A8A-4BCC-A70A-ADCA52ECA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86264"/>
            <a:ext cx="2438400" cy="221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89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5B7B-208F-4E53-B2DB-61B2867D0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764373"/>
            <a:ext cx="7101840" cy="1293028"/>
          </a:xfrm>
        </p:spPr>
        <p:txBody>
          <a:bodyPr/>
          <a:lstStyle/>
          <a:p>
            <a:r>
              <a:rPr lang="en-US" b="1" dirty="0"/>
              <a:t>Network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D31E-B40F-4F31-ABE1-75D9321F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000" dirty="0"/>
              <a:t>Connecting the computers to the network.</a:t>
            </a:r>
          </a:p>
          <a:p>
            <a:r>
              <a:rPr lang="en-US" altLang="en-US" sz="2000" dirty="0"/>
              <a:t>Install, manage, troubleshoot network infrastructure:</a:t>
            </a:r>
          </a:p>
          <a:p>
            <a:pPr lvl="1"/>
            <a:r>
              <a:rPr lang="en-US" altLang="en-US" sz="1800" dirty="0"/>
              <a:t>Routers, Switches, Cables, Wireless Access Points</a:t>
            </a:r>
          </a:p>
          <a:p>
            <a:r>
              <a:rPr lang="en-US" altLang="en-US" sz="2000" dirty="0"/>
              <a:t>Issues: </a:t>
            </a:r>
          </a:p>
          <a:p>
            <a:pPr lvl="1"/>
            <a:r>
              <a:rPr lang="en-US" altLang="en-US" sz="1800" dirty="0"/>
              <a:t>Security</a:t>
            </a:r>
          </a:p>
          <a:p>
            <a:pPr lvl="1"/>
            <a:r>
              <a:rPr lang="en-US" altLang="en-US" sz="1800" dirty="0"/>
              <a:t>Quality of Service</a:t>
            </a:r>
          </a:p>
          <a:p>
            <a:pPr lvl="1"/>
            <a:r>
              <a:rPr lang="en-US" altLang="en-US" sz="1800" dirty="0"/>
              <a:t>Video On Demand</a:t>
            </a:r>
          </a:p>
          <a:p>
            <a:pPr lvl="1"/>
            <a:r>
              <a:rPr lang="en-US" altLang="en-US" sz="1800" dirty="0"/>
              <a:t>IP Telephony or Voice over IP</a:t>
            </a:r>
          </a:p>
          <a:p>
            <a:r>
              <a:rPr lang="en-US" altLang="en-US" sz="2000" dirty="0"/>
              <a:t>Setting up any wireless network access.</a:t>
            </a:r>
          </a:p>
          <a:p>
            <a:r>
              <a:rPr lang="en-US" altLang="en-US" sz="2000" dirty="0"/>
              <a:t>Configure the routers and switches.</a:t>
            </a:r>
          </a:p>
          <a:p>
            <a:pPr lvl="1"/>
            <a:r>
              <a:rPr lang="en-US" altLang="en-US" sz="1800" dirty="0"/>
              <a:t>Basic configurations</a:t>
            </a:r>
          </a:p>
          <a:p>
            <a:pPr lvl="1"/>
            <a:r>
              <a:rPr lang="en-US" altLang="en-US" sz="1800" dirty="0"/>
              <a:t>Security</a:t>
            </a:r>
          </a:p>
          <a:p>
            <a:pPr lvl="1"/>
            <a:r>
              <a:rPr lang="en-US" altLang="en-US" sz="1800" dirty="0"/>
              <a:t>Traffic flow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2F11038-AE4F-4623-9123-B4C10F942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429000"/>
            <a:ext cx="2971800" cy="273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06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F08F-A057-4E7F-8ED1-96E2D73A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E5B-A504-4E76-BBF6-42F388F33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1800" dirty="0"/>
              <a:t>Maintaining the “</a:t>
            </a:r>
            <a:r>
              <a:rPr lang="en-US" altLang="en-US" sz="1800" b="1" dirty="0"/>
              <a:t>server farm</a:t>
            </a:r>
            <a:r>
              <a:rPr lang="en-US" altLang="en-US" sz="1800" dirty="0"/>
              <a:t>”, and </a:t>
            </a:r>
            <a:r>
              <a:rPr lang="en-US" altLang="en-US" sz="1800" b="1" dirty="0"/>
              <a:t>content delivery network</a:t>
            </a:r>
            <a:r>
              <a:rPr lang="en-US" altLang="en-US" sz="1800" dirty="0"/>
              <a:t>, the computers that store the software and data used by everyone.</a:t>
            </a:r>
          </a:p>
          <a:p>
            <a:r>
              <a:rPr lang="en-US" altLang="en-US" sz="1800" dirty="0"/>
              <a:t>Setting up usernames and passwords for controlling access to the network.</a:t>
            </a:r>
          </a:p>
          <a:p>
            <a:r>
              <a:rPr lang="en-US" altLang="en-US" sz="1800" dirty="0"/>
              <a:t>Setting up network services</a:t>
            </a:r>
          </a:p>
          <a:p>
            <a:r>
              <a:rPr lang="en-US" altLang="en-US" sz="1800" dirty="0"/>
              <a:t>Setting up and maintaining the servers that control Email.</a:t>
            </a:r>
          </a:p>
          <a:p>
            <a:r>
              <a:rPr lang="en-US" altLang="en-US" sz="1800" dirty="0"/>
              <a:t>Keep the computers secure from viruses and hackers.</a:t>
            </a:r>
          </a:p>
          <a:p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1592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9787-055A-4E8D-B389-F34FF28B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managed?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0563-0531-4FD8-B12D-A23B726B2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Jawablah</a:t>
            </a:r>
            <a:r>
              <a:rPr lang="en-US" b="1" dirty="0"/>
              <a:t> </a:t>
            </a:r>
            <a:r>
              <a:rPr lang="en-US" b="1" dirty="0" err="1"/>
              <a:t>pertanyaan-pertanyaan</a:t>
            </a:r>
            <a:r>
              <a:rPr lang="en-US" b="1" dirty="0"/>
              <a:t> </a:t>
            </a:r>
            <a:r>
              <a:rPr lang="en-US" b="1" dirty="0" err="1"/>
              <a:t>berikut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kritis</a:t>
            </a:r>
            <a:r>
              <a:rPr lang="en-US" b="1" dirty="0"/>
              <a:t> dan </a:t>
            </a:r>
            <a:r>
              <a:rPr lang="en-US" b="1" dirty="0" err="1"/>
              <a:t>teliti</a:t>
            </a:r>
            <a:r>
              <a:rPr lang="en-US" b="1" dirty="0"/>
              <a:t> :</a:t>
            </a:r>
          </a:p>
          <a:p>
            <a:r>
              <a:rPr lang="en-US" dirty="0"/>
              <a:t>Network Services</a:t>
            </a:r>
          </a:p>
          <a:p>
            <a:pPr lvl="1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user?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user?</a:t>
            </a:r>
          </a:p>
          <a:p>
            <a:r>
              <a:rPr lang="en-US" dirty="0"/>
              <a:t>User</a:t>
            </a:r>
          </a:p>
          <a:p>
            <a:pPr lvl="1"/>
            <a:r>
              <a:rPr lang="en-US" dirty="0"/>
              <a:t>Ada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user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?</a:t>
            </a:r>
          </a:p>
          <a:p>
            <a:r>
              <a:rPr lang="en-US" dirty="0"/>
              <a:t>Data inside the pool</a:t>
            </a:r>
          </a:p>
          <a:p>
            <a:pPr lvl="1"/>
            <a:r>
              <a:rPr lang="en-US" dirty="0"/>
              <a:t>Data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dikelola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87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D71C-927E-43D1-917D-3D441309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5FFB-636E-4281-A582-D3208E89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Directory services</a:t>
            </a:r>
          </a:p>
          <a:p>
            <a:r>
              <a:rPr lang="en-US" dirty="0"/>
              <a:t>e-Mail</a:t>
            </a:r>
          </a:p>
          <a:p>
            <a:r>
              <a:rPr lang="en-US" dirty="0"/>
              <a:t>File sharing</a:t>
            </a:r>
          </a:p>
          <a:p>
            <a:r>
              <a:rPr lang="en-US" dirty="0"/>
              <a:t>Instant messaging</a:t>
            </a:r>
          </a:p>
          <a:p>
            <a:r>
              <a:rPr lang="en-US" dirty="0"/>
              <a:t>Online game</a:t>
            </a:r>
          </a:p>
          <a:p>
            <a:r>
              <a:rPr lang="en-US" dirty="0"/>
              <a:t>Printing</a:t>
            </a:r>
          </a:p>
          <a:p>
            <a:r>
              <a:rPr lang="en-US" dirty="0"/>
              <a:t>File server</a:t>
            </a:r>
          </a:p>
          <a:p>
            <a:r>
              <a:rPr lang="en-US" dirty="0"/>
              <a:t>Voice over IP</a:t>
            </a:r>
          </a:p>
          <a:p>
            <a:r>
              <a:rPr lang="en-US" dirty="0"/>
              <a:t>Video on demand</a:t>
            </a:r>
          </a:p>
          <a:p>
            <a:r>
              <a:rPr lang="en-US" dirty="0"/>
              <a:t>Video telephony</a:t>
            </a:r>
          </a:p>
          <a:p>
            <a:r>
              <a:rPr lang="en-US" dirty="0"/>
              <a:t>World Wide Web</a:t>
            </a:r>
          </a:p>
          <a:p>
            <a:r>
              <a:rPr lang="en-US" dirty="0"/>
              <a:t>Simple Network Management Protocol</a:t>
            </a:r>
          </a:p>
          <a:p>
            <a:r>
              <a:rPr lang="en-US" dirty="0"/>
              <a:t>Time service</a:t>
            </a:r>
          </a:p>
          <a:p>
            <a:r>
              <a:rPr lang="en-US" dirty="0"/>
              <a:t>Wireless sensor network</a:t>
            </a:r>
          </a:p>
        </p:txBody>
      </p:sp>
    </p:spTree>
    <p:extLst>
      <p:ext uri="{BB962C8B-B14F-4D97-AF65-F5344CB8AC3E}">
        <p14:creationId xmlns:p14="http://schemas.microsoft.com/office/powerpoint/2010/main" val="328060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AAC4-2A61-4B46-ACB8-4EAAA459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Manage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F3F7-2BB4-42C0-9E95-4D3CC445C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device</a:t>
            </a:r>
          </a:p>
          <a:p>
            <a:pPr lvl="1"/>
            <a:r>
              <a:rPr lang="en-US" dirty="0"/>
              <a:t>Cable, Router, Modem, Switches, Server</a:t>
            </a:r>
          </a:p>
          <a:p>
            <a:r>
              <a:rPr lang="en-US" dirty="0"/>
              <a:t>Network operating system</a:t>
            </a:r>
          </a:p>
          <a:p>
            <a:pPr lvl="1"/>
            <a:r>
              <a:rPr lang="en-US" dirty="0"/>
              <a:t>Windows, Linux</a:t>
            </a:r>
          </a:p>
        </p:txBody>
      </p:sp>
    </p:spTree>
    <p:extLst>
      <p:ext uri="{BB962C8B-B14F-4D97-AF65-F5344CB8AC3E}">
        <p14:creationId xmlns:p14="http://schemas.microsoft.com/office/powerpoint/2010/main" val="124231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5094-9471-4E4C-959D-B2FCBB51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Tugas</a:t>
            </a:r>
            <a:r>
              <a:rPr lang="en-US" b="1" dirty="0"/>
              <a:t> </a:t>
            </a:r>
            <a:r>
              <a:rPr lang="en-US" b="1" dirty="0" err="1"/>
              <a:t>diskusi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7C654-7670-40A3-93B0-F222E50F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refleksimu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slide 13 dan 14. </a:t>
            </a:r>
            <a:r>
              <a:rPr lang="en-US" dirty="0" err="1"/>
              <a:t>Identifikasikan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SMK !!! </a:t>
            </a:r>
            <a:r>
              <a:rPr lang="en-US" dirty="0" err="1"/>
              <a:t>Isikan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678811-6632-4CF2-B7A1-A91AA134288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390772" y="3586480"/>
          <a:ext cx="7682868" cy="219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717">
                  <a:extLst>
                    <a:ext uri="{9D8B030D-6E8A-4147-A177-3AD203B41FA5}">
                      <a16:colId xmlns:a16="http://schemas.microsoft.com/office/drawing/2014/main" val="3094244085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1891296562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1774948638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2262009342"/>
                    </a:ext>
                  </a:extLst>
                </a:gridCol>
              </a:tblGrid>
              <a:tr h="1042573"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perangkat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layanan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jaringan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aplikasi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024846"/>
                  </a:ext>
                </a:extLst>
              </a:tr>
              <a:tr h="729801">
                <a:tc>
                  <a:txBody>
                    <a:bodyPr/>
                    <a:lstStyle/>
                    <a:p>
                      <a:r>
                        <a:rPr lang="en-US" dirty="0"/>
                        <a:t>Web </a:t>
                      </a:r>
                      <a:r>
                        <a:rPr lang="en-US" dirty="0" err="1"/>
                        <a:t>profil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http,dns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Apache, bind9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772213"/>
                  </a:ext>
                </a:extLst>
              </a:tr>
              <a:tr h="422821"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0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55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85C4-ED44-4037-9094-8D78E42F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Tugas</a:t>
            </a:r>
            <a:r>
              <a:rPr lang="en-US" b="1" dirty="0"/>
              <a:t> </a:t>
            </a:r>
            <a:r>
              <a:rPr lang="en-US" b="1" dirty="0" err="1"/>
              <a:t>praktikum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56A3-BF36-44AE-885F-2E73B2C1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menginstall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Menggunakan</a:t>
            </a:r>
            <a:r>
              <a:rPr lang="en-US" dirty="0"/>
              <a:t> search engine, </a:t>
            </a:r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Pilih</a:t>
            </a:r>
            <a:r>
              <a:rPr lang="en-US" dirty="0"/>
              <a:t> salah 1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analisis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Dari </a:t>
            </a:r>
            <a:r>
              <a:rPr lang="en-US" dirty="0" smtClean="0"/>
              <a:t>CCNA1 </a:t>
            </a:r>
            <a:r>
              <a:rPr lang="en-US" dirty="0"/>
              <a:t>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, dan </a:t>
            </a:r>
            <a:r>
              <a:rPr lang="en-US" dirty="0" err="1"/>
              <a:t>kebutuhan</a:t>
            </a:r>
            <a:r>
              <a:rPr lang="en-US" dirty="0"/>
              <a:t> minimum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kerasnya</a:t>
            </a:r>
            <a:r>
              <a:rPr lang="en-US" dirty="0"/>
              <a:t> (minimum system requirements)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Install CCNA1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flowchart/</a:t>
            </a: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Catat</a:t>
            </a:r>
            <a:r>
              <a:rPr lang="en-US" dirty="0"/>
              <a:t> Langkah 1 – 4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praktikum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Jika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keterbatasan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penunjang</a:t>
            </a:r>
            <a:r>
              <a:rPr lang="en-US" dirty="0"/>
              <a:t> </a:t>
            </a:r>
            <a:r>
              <a:rPr lang="en-US" dirty="0" err="1"/>
              <a:t>praktikum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,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berkelompok</a:t>
            </a:r>
            <a:r>
              <a:rPr lang="en-US" dirty="0"/>
              <a:t>, 1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 err="1"/>
              <a:t>mahasiswa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8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Academic</a:t>
            </a:r>
            <a:endParaRPr lang="en-US" sz="3200" dirty="0"/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5786" y="3811359"/>
            <a:ext cx="8493747" cy="800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1, 2, 3, 4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acket Traveling - Titl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81162"/>
            <a:ext cx="9846274" cy="325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9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954" y="888035"/>
            <a:ext cx="5862663" cy="4959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88" y="1857203"/>
            <a:ext cx="3293304" cy="35759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3177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80" y="828674"/>
            <a:ext cx="10227469" cy="529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0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30" y="1813832"/>
            <a:ext cx="59912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0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160338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2334344"/>
            <a:ext cx="3369808" cy="2626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5575" y="1394462"/>
            <a:ext cx="2916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PAN (Personal Area Network)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3472" y="1394462"/>
            <a:ext cx="2588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LAN (Local Area Network)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021" y="2014850"/>
            <a:ext cx="2624365" cy="19673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65" y="1728113"/>
            <a:ext cx="4571755" cy="31646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10058" y="1394462"/>
            <a:ext cx="2702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WAN (Wide Area </a:t>
            </a:r>
            <a:r>
              <a:rPr lang="en-US" dirty="0"/>
              <a:t>Network)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653" y="4300987"/>
            <a:ext cx="2616541" cy="17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5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48423"/>
            <a:ext cx="3292475" cy="918378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58" name="Picture 2" descr="https://encrypted-tbn0.gstatic.com/images?q=tbn:ANd9GcRY6zUFU-TE_TfqneN8YmW5Ikm201OA764L_NEcOpXO_g&amp;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3998843"/>
            <a:ext cx="3467100" cy="260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https://itbox.id/wp-content/uploads/2024/11/mengenal-campus-area-network-scaled.jpg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53" r="29687" b="4408"/>
          <a:stretch/>
        </p:blipFill>
        <p:spPr bwMode="auto">
          <a:xfrm>
            <a:off x="685800" y="1676517"/>
            <a:ext cx="3530600" cy="232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38125" y="1066801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LAN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868" t="3752" r="2110" b="20838"/>
          <a:stretch/>
        </p:blipFill>
        <p:spPr>
          <a:xfrm>
            <a:off x="6671922" y="3086100"/>
            <a:ext cx="5120028" cy="2827268"/>
          </a:xfrm>
          <a:prstGeom prst="rect">
            <a:avLst/>
          </a:prstGeom>
        </p:spPr>
      </p:pic>
      <p:pic>
        <p:nvPicPr>
          <p:cNvPr id="19462" name="Picture 6" descr="Cara Membangun jaringan LAN untuk lab sekolah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4214603"/>
            <a:ext cx="317500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 descr="Server Jaringan Computer 🔥 Harga &amp; Spesifikasi Terbaru September 2026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325" y="1108879"/>
            <a:ext cx="1977221" cy="197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7810500" y="895350"/>
            <a:ext cx="2860675" cy="2190750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9563100" y="2590800"/>
            <a:ext cx="3429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 txBox="1">
            <a:spLocks/>
          </p:cNvSpPr>
          <p:nvPr/>
        </p:nvSpPr>
        <p:spPr>
          <a:xfrm>
            <a:off x="8478506" y="924442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Server</a:t>
            </a:r>
            <a:endParaRPr lang="en-US" sz="14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238802" y="1251359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200.200.150.10</a:t>
            </a:r>
            <a:endParaRPr lang="en-US" sz="1800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279569" y="1767655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200.200.150.40</a:t>
            </a:r>
            <a:endParaRPr lang="en-US" sz="1800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0283825" y="1460884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Sma2_library.sch.id</a:t>
            </a:r>
            <a:endParaRPr lang="en-US" sz="1800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0261313" y="202124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Barista_shop.com</a:t>
            </a:r>
            <a:endParaRPr lang="en-US" sz="1800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0313877" y="1019749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Domain :</a:t>
            </a:r>
            <a:endParaRPr lang="en-US" sz="1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9513325" y="2680140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192.168.100.5</a:t>
            </a:r>
            <a:endParaRPr lang="en-US" sz="1800" dirty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7515225" y="3325147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192.168.100.10</a:t>
            </a:r>
            <a:endParaRPr lang="en-US" sz="1800" dirty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6867525" y="4144943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192.168.100.12</a:t>
            </a:r>
            <a:endParaRPr lang="en-US" sz="1800" dirty="0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7605713" y="520378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192.168.100.15</a:t>
            </a:r>
            <a:endParaRPr lang="en-US" sz="1800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9129139" y="486507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192.168.100.18</a:t>
            </a:r>
            <a:endParaRPr lang="en-US" sz="1800" dirty="0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10506416" y="5454179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192.168.100.20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488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5575" y="148423"/>
            <a:ext cx="3292475" cy="918378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38125" y="1066801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Cable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2206795"/>
            <a:ext cx="2109787" cy="20889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72" y="4517391"/>
            <a:ext cx="2405567" cy="17656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887" y="1788414"/>
            <a:ext cx="5719891" cy="39837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4715" y="148423"/>
            <a:ext cx="1271531" cy="15454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899" y="148423"/>
            <a:ext cx="1545431" cy="15454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7002" y="2206795"/>
            <a:ext cx="1114425" cy="1114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862435">
            <a:off x="10495205" y="2139958"/>
            <a:ext cx="1040314" cy="10863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9161" y="4100480"/>
            <a:ext cx="2417089" cy="322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2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20" y="4738689"/>
            <a:ext cx="1784129" cy="17204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97419" flipH="1" flipV="1">
            <a:off x="2897274" y="4038376"/>
            <a:ext cx="2269859" cy="15264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711051" y="1609726"/>
            <a:ext cx="2225881" cy="891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160338"/>
            <a:ext cx="10515600" cy="5111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7975" y="113188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7975" y="538003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Client</a:t>
            </a:r>
            <a:endParaRPr lang="en-US" dirty="0"/>
          </a:p>
        </p:txBody>
      </p:sp>
      <p:pic>
        <p:nvPicPr>
          <p:cNvPr id="7" name="Picture 8" descr="Server Jaringan Computer 🔥 Harga &amp; Spesifikasi Terbaru September 2026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39" y="1823255"/>
            <a:ext cx="1977221" cy="197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578814" y="1609726"/>
            <a:ext cx="2860675" cy="2190750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246820" y="1638818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Server</a:t>
            </a: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88698" y="1951527"/>
            <a:ext cx="3125578" cy="3147936"/>
          </a:xfrm>
          <a:prstGeom prst="rect">
            <a:avLst/>
          </a:prstGeom>
        </p:spPr>
      </p:pic>
      <p:pic>
        <p:nvPicPr>
          <p:cNvPr id="17412" name="Picture 4" descr="Cisco Catalyst WS-C3850-24P-S 24 PoE 10 GbE | Reboot IT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32" b="35968"/>
          <a:stretch/>
        </p:blipFill>
        <p:spPr bwMode="auto">
          <a:xfrm>
            <a:off x="8583706" y="2677116"/>
            <a:ext cx="3511608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9977437" y="2044599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13" name="AutoShape 6" descr="Cat6 Utp Flat Ethernet Cable - Foyun Cabl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LAN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32" y="753622"/>
            <a:ext cx="3434443" cy="2923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01" y="3962610"/>
            <a:ext cx="3646303" cy="2895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95" y="1961734"/>
            <a:ext cx="6027535" cy="40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8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60339"/>
            <a:ext cx="10515600" cy="696912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7975" y="113188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27075" y="1662112"/>
            <a:ext cx="31019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OS : Ubuntu Server</a:t>
            </a: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93825" y="2173287"/>
            <a:ext cx="380682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002060"/>
                </a:solidFill>
              </a:rPr>
              <a:t>OS : Ubuntu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29550" y="2305763"/>
            <a:ext cx="8039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https://www.belajarlinux.org/langkah-langkah-proses-instalasi-server-ubuntu/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5637" y="3689770"/>
            <a:ext cx="4868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b="1" dirty="0" smtClean="0">
                <a:solidFill>
                  <a:srgbClr val="002060"/>
                </a:solidFill>
              </a:rPr>
              <a:t>Konfigurasi </a:t>
            </a:r>
            <a:r>
              <a:rPr lang="it-IT" sz="2400" b="1" dirty="0">
                <a:solidFill>
                  <a:srgbClr val="002060"/>
                </a:solidFill>
              </a:rPr>
              <a:t>Apache di Ubuntu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30647" y="4151435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http://www.onnocenter.or.id/wiki/index.php/Instalasi_dan_konfigurasi_Apache_di_Ubuntu_Server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0250" y="4341209"/>
            <a:ext cx="3160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</a:rPr>
              <a:t>Konfigurasi</a:t>
            </a:r>
            <a:r>
              <a:rPr lang="en-US" sz="2400" b="1" dirty="0">
                <a:solidFill>
                  <a:srgbClr val="002060"/>
                </a:solidFill>
              </a:rPr>
              <a:t>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30647" y="4782687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https://idcloudhost.com/panduan/cara-membangun-web-server-di-ubuntu/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0647" y="501351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https://www.digitalocean.com/community/tutorials/how-to-configure-the-apache-web-server-on-an-ubuntu-or-debian-vps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25637" y="2689355"/>
            <a:ext cx="380682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002060"/>
                </a:solidFill>
              </a:rPr>
              <a:t>DHCP, DNS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87476" y="2760276"/>
            <a:ext cx="35092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https://zonabiner.com/tutorial/ubuntu/konfigurasi-dhcp-server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7476" y="2932634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https://musaamin.web.id/cara-konfigurasi-dhcp-server-di-ubuntu/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7476" y="3126690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https://www.pusatcaracara.com/2021/12/cara-membuat-dhcp-server-di-linux-ubuntu.html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7476" y="3352827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https://www.idn.id/konfigurasi-dns-resolver-di-linux-untuk-server/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33275" y="2684462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https://setiyobudi9.wordpress.com/2012/10/05/instalasi-dan-konfigurasi-dhcp-server-pada-ubuntu/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8319" y="2978148"/>
            <a:ext cx="1586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Instalasi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BIND9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0" y="3275882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https://zonabiner.com/konfigurasi-dns-dengan-bind-ubuntu-20-04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33275" y="3391453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https://ccasp.wordpress.com/2009/12/02/install-dan-konfigurasi-dasar-dns-server-di-ubuntu/</a:t>
            </a:r>
          </a:p>
        </p:txBody>
      </p:sp>
    </p:spTree>
    <p:extLst>
      <p:ext uri="{BB962C8B-B14F-4D97-AF65-F5344CB8AC3E}">
        <p14:creationId xmlns:p14="http://schemas.microsoft.com/office/powerpoint/2010/main" val="194963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60338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34" name="Picture 2" descr="Ilustrasi Jaringan K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179637"/>
            <a:ext cx="6667500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4175" y="938214"/>
            <a:ext cx="10515600" cy="473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IP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6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6671" cy="46751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800" dirty="0" smtClean="0"/>
              <a:t>CCNA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13731" y="467517"/>
            <a:ext cx="37622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1 	 	-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01_Explore_the_Network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02_Configure_a_Network_Operating_System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03_Network_Protocols_and_Communication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04_Network_Access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05_Ethernet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06_Network_Layer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07_IP_Addressing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08_Subnetting_IP_Networks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09_Transport_Layer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10_Application_Layer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11_Build_a_Small_Network	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731" y="3469776"/>
            <a:ext cx="339374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2 	 	-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01_Routing_Concept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02_Static_Routing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03_Dynamic_Routing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04_Switched_Networks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05_Switch_Configuration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06_VLANs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07_Access_Control_Lists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08_DHCP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09_NAT_for_IPv4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10_Discover_Manage_Maintenance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0672" y="467517"/>
            <a:ext cx="390797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3 	 	 	-	 </a:t>
            </a:r>
          </a:p>
          <a:p>
            <a:r>
              <a:rPr lang="en-US" sz="1400" dirty="0"/>
              <a:t>[3] 01_LAN_Design	 </a:t>
            </a:r>
          </a:p>
          <a:p>
            <a:r>
              <a:rPr lang="en-US" sz="1400" dirty="0"/>
              <a:t>[3] 02_Scaling_VLANs </a:t>
            </a:r>
          </a:p>
          <a:p>
            <a:r>
              <a:rPr lang="en-US" sz="1400" dirty="0"/>
              <a:t>[3] 03_STP</a:t>
            </a:r>
          </a:p>
          <a:p>
            <a:r>
              <a:rPr lang="en-US" sz="1400" dirty="0"/>
              <a:t>[3] 04_EtherChannel_HSRP </a:t>
            </a:r>
          </a:p>
          <a:p>
            <a:r>
              <a:rPr lang="en-US" sz="1400" dirty="0"/>
              <a:t>[3] 05_Dynamic_Routing</a:t>
            </a:r>
          </a:p>
          <a:p>
            <a:r>
              <a:rPr lang="en-US" sz="1400" dirty="0"/>
              <a:t>[3] 06_EIGRP </a:t>
            </a:r>
          </a:p>
          <a:p>
            <a:r>
              <a:rPr lang="en-US" sz="1400" dirty="0"/>
              <a:t>[3] 07_EIGRP_Tune </a:t>
            </a:r>
          </a:p>
          <a:p>
            <a:r>
              <a:rPr lang="en-US" sz="1400" dirty="0"/>
              <a:t>[3] 08_Single_Area_OSPF.	 </a:t>
            </a:r>
          </a:p>
          <a:p>
            <a:r>
              <a:rPr lang="en-US" sz="1400" dirty="0"/>
              <a:t>[3] 09_Multiarea_OSPF</a:t>
            </a:r>
          </a:p>
          <a:p>
            <a:r>
              <a:rPr lang="en-US" sz="1400" dirty="0"/>
              <a:t>[3] 10_OSPF_Tuning_Tshoot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672" y="3469776"/>
            <a:ext cx="40385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4	 </a:t>
            </a:r>
          </a:p>
          <a:p>
            <a:r>
              <a:rPr lang="en-US" sz="1400" dirty="0"/>
              <a:t>[4] 01_WAN_Concepts</a:t>
            </a:r>
          </a:p>
          <a:p>
            <a:r>
              <a:rPr lang="en-US" sz="1400" dirty="0"/>
              <a:t>[4] 02_Point-to-Point_Connections</a:t>
            </a:r>
          </a:p>
          <a:p>
            <a:r>
              <a:rPr lang="en-US" sz="1400" dirty="0"/>
              <a:t>[4] 03_Branch_Connections	 </a:t>
            </a:r>
          </a:p>
          <a:p>
            <a:r>
              <a:rPr lang="en-US" sz="1400" dirty="0"/>
              <a:t>[4] 04_Access_Control_Lists	 </a:t>
            </a:r>
          </a:p>
          <a:p>
            <a:r>
              <a:rPr lang="en-US" sz="1400" dirty="0"/>
              <a:t>[4] 05_Network_Security_and_Monitoring </a:t>
            </a:r>
          </a:p>
          <a:p>
            <a:r>
              <a:rPr lang="en-US" sz="1400" dirty="0"/>
              <a:t>[4] 06_Quality_of_Service	 </a:t>
            </a:r>
          </a:p>
          <a:p>
            <a:r>
              <a:rPr lang="en-US" sz="1400" dirty="0"/>
              <a:t>[4] 07_Network_Evolution</a:t>
            </a:r>
          </a:p>
          <a:p>
            <a:r>
              <a:rPr lang="en-US" sz="1400" dirty="0"/>
              <a:t>[4] 08_Network_Troubleshooting	</a:t>
            </a:r>
          </a:p>
        </p:txBody>
      </p:sp>
    </p:spTree>
    <p:extLst>
      <p:ext uri="{BB962C8B-B14F-4D97-AF65-F5344CB8AC3E}">
        <p14:creationId xmlns:p14="http://schemas.microsoft.com/office/powerpoint/2010/main" val="25401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91000" cy="59826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Link</a:t>
            </a:r>
            <a:r>
              <a:rPr lang="en-US" dirty="0" smtClean="0"/>
              <a:t> </a:t>
            </a:r>
            <a:r>
              <a:rPr lang="en-US" sz="1800" dirty="0" smtClean="0"/>
              <a:t>CCNA Module Cisco Academic </a:t>
            </a:r>
            <a:endParaRPr lang="en-US" sz="1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144486" y="1924505"/>
            <a:ext cx="6525986" cy="61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1 v7: </a:t>
            </a:r>
            <a:r>
              <a:rPr lang="en-US" sz="1900" dirty="0"/>
              <a:t>https://github.com/amelcharolinesgn2/CCNA-1-v7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4486" y="2231402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2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github.com/amelcharolinesgn2/CCNA-2-v7</a:t>
            </a:r>
            <a:endParaRPr lang="en-US" sz="19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24050" y="1561931"/>
            <a:ext cx="4191000" cy="59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7030A0"/>
                </a:solidFill>
              </a:rPr>
              <a:t>Jaringan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Komputer</a:t>
            </a:r>
            <a:endParaRPr lang="en-US" sz="1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83921" y="3537688"/>
            <a:ext cx="4191000" cy="59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7030A0"/>
                </a:solidFill>
              </a:rPr>
              <a:t>Antar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Jaringan</a:t>
            </a:r>
            <a:endParaRPr lang="en-US" sz="1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307772" y="4023803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3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github.com/amelcharolinesgn2/CCNA-3-v7</a:t>
            </a:r>
            <a:endParaRPr lang="en-US" sz="19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307772" y="4593035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4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github.com/amelcharolinesgn2/CCNA-4-v7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64895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4" y="3999568"/>
            <a:ext cx="2343426" cy="26366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95" y="2066925"/>
            <a:ext cx="1334684" cy="2034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1171722"/>
            <a:ext cx="7490844" cy="42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5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5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23800</TotalTime>
  <Words>1079</Words>
  <Application>Microsoft Office PowerPoint</Application>
  <PresentationFormat>Widescreen</PresentationFormat>
  <Paragraphs>284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맑은 고딕</vt:lpstr>
      <vt:lpstr>Arial</vt:lpstr>
      <vt:lpstr>Calibri</vt:lpstr>
      <vt:lpstr>Calibri Light</vt:lpstr>
      <vt:lpstr>Segoe UI Symbol</vt:lpstr>
      <vt:lpstr>Office Theme</vt:lpstr>
      <vt:lpstr>PowerPoint Presentation</vt:lpstr>
      <vt:lpstr>PowerPoint Presentation</vt:lpstr>
      <vt:lpstr>PowerPoint Presentation</vt:lpstr>
      <vt:lpstr>Topology</vt:lpstr>
      <vt:lpstr>Server ?</vt:lpstr>
      <vt:lpstr>PowerPoint Presentation</vt:lpstr>
      <vt:lpstr>Administrasi Jaringan Komputer</vt:lpstr>
      <vt:lpstr>Router Hardware</vt:lpstr>
      <vt:lpstr>KOMPONEN SISTEM JARINGAN KOMPUTER</vt:lpstr>
      <vt:lpstr>ADMINISTRATOR</vt:lpstr>
      <vt:lpstr>LAYANAN JARINGAN KOMPUTER</vt:lpstr>
      <vt:lpstr>USER</vt:lpstr>
      <vt:lpstr>Contoh infrastruktur jaringan komputer</vt:lpstr>
      <vt:lpstr>Contoh 2 – topologi data center instansi pendidikan</vt:lpstr>
      <vt:lpstr>Pertanyaan</vt:lpstr>
      <vt:lpstr>Who managed?</vt:lpstr>
      <vt:lpstr>Computer technician</vt:lpstr>
      <vt:lpstr>Network administrator</vt:lpstr>
      <vt:lpstr>System administrator</vt:lpstr>
      <vt:lpstr>What managed?</vt:lpstr>
      <vt:lpstr>Network Services</vt:lpstr>
      <vt:lpstr>How to Manage</vt:lpstr>
      <vt:lpstr>Tugas diskusi</vt:lpstr>
      <vt:lpstr>Tugas praktikum</vt:lpstr>
      <vt:lpstr>PowerPoint Presentation</vt:lpstr>
      <vt:lpstr>PowerPoint Presentation</vt:lpstr>
      <vt:lpstr>Networking</vt:lpstr>
      <vt:lpstr>PowerPoint Presentation</vt:lpstr>
      <vt:lpstr>Networking</vt:lpstr>
      <vt:lpstr>Networking</vt:lpstr>
      <vt:lpstr>Networking</vt:lpstr>
      <vt:lpstr>Networking</vt:lpstr>
      <vt:lpstr>Networking</vt:lpstr>
      <vt:lpstr>LAN</vt:lpstr>
      <vt:lpstr>Networking</vt:lpstr>
      <vt:lpstr>Networking</vt:lpstr>
      <vt:lpstr>CCNA</vt:lpstr>
      <vt:lpstr>Link CCNA Module Cisco Academic </vt:lpstr>
      <vt:lpstr>Jaringan WAN 4 Server DNS, WEB, MAIL, DHCP - Cisco Packet Tracer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PDS</cp:lastModifiedBy>
  <cp:revision>176</cp:revision>
  <dcterms:created xsi:type="dcterms:W3CDTF">2024-07-11T17:06:45Z</dcterms:created>
  <dcterms:modified xsi:type="dcterms:W3CDTF">2026-09-07T10:01:22Z</dcterms:modified>
</cp:coreProperties>
</file>