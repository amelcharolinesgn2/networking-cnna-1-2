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8"/>
  </p:notesMasterIdLst>
  <p:sldIdLst>
    <p:sldId id="339" r:id="rId2"/>
    <p:sldId id="437" r:id="rId3"/>
    <p:sldId id="416" r:id="rId4"/>
    <p:sldId id="436" r:id="rId5"/>
    <p:sldId id="417" r:id="rId6"/>
    <p:sldId id="418" r:id="rId7"/>
    <p:sldId id="419" r:id="rId8"/>
    <p:sldId id="439" r:id="rId9"/>
    <p:sldId id="421" r:id="rId10"/>
    <p:sldId id="438" r:id="rId11"/>
    <p:sldId id="422" r:id="rId12"/>
    <p:sldId id="420" r:id="rId13"/>
    <p:sldId id="412" r:id="rId14"/>
    <p:sldId id="413" r:id="rId15"/>
    <p:sldId id="411" r:id="rId16"/>
    <p:sldId id="34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nuel Fradinho" initials="M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2C01"/>
    <a:srgbClr val="FF40FF"/>
    <a:srgbClr val="00B2A5"/>
    <a:srgbClr val="00FDFF"/>
    <a:srgbClr val="00D9C7"/>
    <a:srgbClr val="73FD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=""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88" autoAdjust="0"/>
    <p:restoredTop sz="60584" autoAdjust="0"/>
  </p:normalViewPr>
  <p:slideViewPr>
    <p:cSldViewPr snapToGrid="0">
      <p:cViewPr>
        <p:scale>
          <a:sx n="50" d="100"/>
          <a:sy n="50" d="100"/>
        </p:scale>
        <p:origin x="1776" y="2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AA3E45-57A9-44A4-8D02-ECC452318D6C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32A1-099D-4B50-B749-7C373A0D8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43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Setting Up Ubuntu 20 Server on 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VirtualBox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Node.js App</a:t>
            </a:r>
          </a:p>
          <a:p>
            <a:r>
              <a:rPr lang="en-US" dirty="0" smtClean="0"/>
              <a:t>https://github.com/NawalAShaltout/OS-02-/tree/main/Lab-03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203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729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54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https://www.idn.id/apa-itu-jaringan-pan-lan-man-dan-wan/</a:t>
            </a:r>
          </a:p>
          <a:p>
            <a:r>
              <a:rPr lang="en-US" dirty="0" smtClean="0"/>
              <a:t>https://kingofnetworking.weebly.com/different-types-of-computer-networks.html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48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https://catatanteknisi.com/apa-itu-jaringan-komputer/</a:t>
            </a:r>
          </a:p>
          <a:p>
            <a:r>
              <a:rPr lang="en-US" dirty="0" smtClean="0"/>
              <a:t>https://makassarstore.co.id/keuntungan-jaringan-local-area-network/</a:t>
            </a:r>
          </a:p>
          <a:p>
            <a:endParaRPr lang="en-US" dirty="0" smtClean="0"/>
          </a:p>
          <a:p>
            <a:r>
              <a:rPr lang="en-US" dirty="0" smtClean="0"/>
              <a:t>https://networking.indo-solution.com/cara-membangun-jaringan-lan-untuk-lab-sekolah/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31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https://networkingpeopletogether.blogspot.com/2012/01/mengenal-kabel-ethernet-cat-5.html?m=0</a:t>
            </a:r>
          </a:p>
          <a:p>
            <a:endParaRPr lang="en-US" dirty="0" smtClean="0"/>
          </a:p>
          <a:p>
            <a:r>
              <a:rPr lang="en-US" dirty="0" smtClean="0"/>
              <a:t>https://muslimpribadi.wordpress.com/2011/03/14/mengapa-pengkabelan-utp-harus-mengikuti-standar-t568a-atau-t568b/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22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https://catatanteknisi.com/apa-itu-jaringan-komputer/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3726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7178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1911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32A1-099D-4B50-B749-7C373A0D848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444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55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45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02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5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2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59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06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11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10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39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49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8CD25-4015-481E-94C9-A931395C8E35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17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gif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290" y="549166"/>
            <a:ext cx="1980634" cy="126234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4"/>
          <a:srcRect l="8646" t="12924" r="16013" b="9596"/>
          <a:stretch/>
        </p:blipFill>
        <p:spPr>
          <a:xfrm>
            <a:off x="348892" y="2278144"/>
            <a:ext cx="1209868" cy="12442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5"/>
          <a:srcRect t="31519" b="32047"/>
          <a:stretch/>
        </p:blipFill>
        <p:spPr>
          <a:xfrm>
            <a:off x="478321" y="2904448"/>
            <a:ext cx="1018759" cy="3239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070" y="1596944"/>
            <a:ext cx="1896069" cy="21332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AABCB87-2ECC-4C03-B5BB-6EE11C8A4485}"/>
              </a:ext>
            </a:extLst>
          </p:cNvPr>
          <p:cNvGrpSpPr/>
          <p:nvPr/>
        </p:nvGrpSpPr>
        <p:grpSpPr>
          <a:xfrm>
            <a:off x="477502" y="1251268"/>
            <a:ext cx="976966" cy="369285"/>
            <a:chOff x="4853562" y="1589418"/>
            <a:chExt cx="2609520" cy="1291565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3546B24-FABC-4B2A-A80F-B03654D56A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53562" y="1589418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54187" rIns="108373" bIns="541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201">
                <a:solidFill>
                  <a:schemeClr val="tx1"/>
                </a:solidFill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2E1A011-CDEA-4BBC-B725-C88AF546489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230834" y="1678285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54187" rIns="108373" bIns="541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20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B8BC7BC-BF58-402E-9A69-AA9226DE7CAA}"/>
              </a:ext>
            </a:extLst>
          </p:cNvPr>
          <p:cNvGrpSpPr/>
          <p:nvPr/>
        </p:nvGrpSpPr>
        <p:grpSpPr>
          <a:xfrm>
            <a:off x="431212" y="1225859"/>
            <a:ext cx="336493" cy="171515"/>
            <a:chOff x="7439031" y="1585639"/>
            <a:chExt cx="2143740" cy="996849"/>
          </a:xfrm>
          <a:solidFill>
            <a:schemeClr val="accent6"/>
          </a:solidFill>
        </p:grpSpPr>
        <p:sp>
          <p:nvSpPr>
            <p:cNvPr id="11" name="Freeform: Shape 66">
              <a:extLst>
                <a:ext uri="{FF2B5EF4-FFF2-40B4-BE49-F238E27FC236}">
                  <a16:creationId xmlns:a16="http://schemas.microsoft.com/office/drawing/2014/main" id="{2A081543-B9FF-49B1-8EEF-ABDF5438EDCD}"/>
                </a:ext>
              </a:extLst>
            </p:cNvPr>
            <p:cNvSpPr/>
            <p:nvPr/>
          </p:nvSpPr>
          <p:spPr>
            <a:xfrm>
              <a:off x="7439031" y="1585639"/>
              <a:ext cx="2143740" cy="996849"/>
            </a:xfrm>
            <a:custGeom>
              <a:avLst/>
              <a:gdLst/>
              <a:ahLst/>
              <a:cxnLst/>
              <a:rect l="l" t="t" r="r" b="b"/>
              <a:pathLst>
                <a:path w="1862733" h="866179">
                  <a:moveTo>
                    <a:pt x="794147" y="204787"/>
                  </a:moveTo>
                  <a:cubicBezTo>
                    <a:pt x="745605" y="204787"/>
                    <a:pt x="701637" y="218416"/>
                    <a:pt x="662244" y="245673"/>
                  </a:cubicBezTo>
                  <a:cubicBezTo>
                    <a:pt x="622851" y="272930"/>
                    <a:pt x="594798" y="309240"/>
                    <a:pt x="578086" y="354601"/>
                  </a:cubicBezTo>
                  <a:cubicBezTo>
                    <a:pt x="568536" y="380467"/>
                    <a:pt x="563761" y="406729"/>
                    <a:pt x="563761" y="433387"/>
                  </a:cubicBezTo>
                  <a:cubicBezTo>
                    <a:pt x="563761" y="488299"/>
                    <a:pt x="582064" y="537440"/>
                    <a:pt x="618670" y="580811"/>
                  </a:cubicBezTo>
                  <a:cubicBezTo>
                    <a:pt x="664031" y="634532"/>
                    <a:pt x="722524" y="661392"/>
                    <a:pt x="794147" y="661392"/>
                  </a:cubicBezTo>
                  <a:cubicBezTo>
                    <a:pt x="865771" y="661392"/>
                    <a:pt x="924462" y="634733"/>
                    <a:pt x="970220" y="581415"/>
                  </a:cubicBezTo>
                  <a:cubicBezTo>
                    <a:pt x="1006826" y="538838"/>
                    <a:pt x="1025128" y="489496"/>
                    <a:pt x="1025128" y="433387"/>
                  </a:cubicBezTo>
                  <a:cubicBezTo>
                    <a:pt x="1025128" y="376088"/>
                    <a:pt x="1006826" y="326547"/>
                    <a:pt x="970220" y="284764"/>
                  </a:cubicBezTo>
                  <a:cubicBezTo>
                    <a:pt x="923265" y="231446"/>
                    <a:pt x="864574" y="204787"/>
                    <a:pt x="794147" y="204787"/>
                  </a:cubicBezTo>
                  <a:close/>
                  <a:moveTo>
                    <a:pt x="1304330" y="24408"/>
                  </a:moveTo>
                  <a:lnTo>
                    <a:pt x="1862733" y="24408"/>
                  </a:lnTo>
                  <a:lnTo>
                    <a:pt x="1862733" y="200620"/>
                  </a:lnTo>
                  <a:lnTo>
                    <a:pt x="1687711" y="200620"/>
                  </a:lnTo>
                  <a:lnTo>
                    <a:pt x="1687711" y="837009"/>
                  </a:lnTo>
                  <a:lnTo>
                    <a:pt x="1476375" y="837009"/>
                  </a:lnTo>
                  <a:lnTo>
                    <a:pt x="1476375" y="200620"/>
                  </a:lnTo>
                  <a:lnTo>
                    <a:pt x="1304330" y="200620"/>
                  </a:lnTo>
                  <a:close/>
                  <a:moveTo>
                    <a:pt x="0" y="24408"/>
                  </a:moveTo>
                  <a:lnTo>
                    <a:pt x="211336" y="24408"/>
                  </a:lnTo>
                  <a:lnTo>
                    <a:pt x="211336" y="837009"/>
                  </a:lnTo>
                  <a:lnTo>
                    <a:pt x="0" y="837009"/>
                  </a:lnTo>
                  <a:close/>
                  <a:moveTo>
                    <a:pt x="794147" y="0"/>
                  </a:moveTo>
                  <a:cubicBezTo>
                    <a:pt x="937022" y="0"/>
                    <a:pt x="1050330" y="47426"/>
                    <a:pt x="1134071" y="142280"/>
                  </a:cubicBezTo>
                  <a:cubicBezTo>
                    <a:pt x="1207493" y="225623"/>
                    <a:pt x="1244204" y="322659"/>
                    <a:pt x="1244204" y="433387"/>
                  </a:cubicBezTo>
                  <a:cubicBezTo>
                    <a:pt x="1244204" y="543719"/>
                    <a:pt x="1207493" y="640556"/>
                    <a:pt x="1134071" y="723900"/>
                  </a:cubicBezTo>
                  <a:cubicBezTo>
                    <a:pt x="1050330" y="818753"/>
                    <a:pt x="937022" y="866179"/>
                    <a:pt x="794147" y="866179"/>
                  </a:cubicBezTo>
                  <a:cubicBezTo>
                    <a:pt x="651669" y="866179"/>
                    <a:pt x="538560" y="818753"/>
                    <a:pt x="454819" y="723900"/>
                  </a:cubicBezTo>
                  <a:cubicBezTo>
                    <a:pt x="381397" y="640556"/>
                    <a:pt x="344686" y="543719"/>
                    <a:pt x="344686" y="433387"/>
                  </a:cubicBezTo>
                  <a:cubicBezTo>
                    <a:pt x="344686" y="382984"/>
                    <a:pt x="354608" y="331291"/>
                    <a:pt x="374452" y="278308"/>
                  </a:cubicBezTo>
                  <a:cubicBezTo>
                    <a:pt x="394296" y="225326"/>
                    <a:pt x="420886" y="179983"/>
                    <a:pt x="454224" y="142280"/>
                  </a:cubicBezTo>
                  <a:cubicBezTo>
                    <a:pt x="537964" y="47426"/>
                    <a:pt x="651272" y="0"/>
                    <a:pt x="794147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133" dirty="0"/>
            </a:p>
          </p:txBody>
        </p:sp>
        <p:sp>
          <p:nvSpPr>
            <p:cNvPr id="12" name="Freeform: Shape 67">
              <a:extLst>
                <a:ext uri="{FF2B5EF4-FFF2-40B4-BE49-F238E27FC236}">
                  <a16:creationId xmlns:a16="http://schemas.microsoft.com/office/drawing/2014/main" id="{275D1FAA-C13F-4A6B-BA37-7704CFB7ADCD}"/>
                </a:ext>
              </a:extLst>
            </p:cNvPr>
            <p:cNvSpPr/>
            <p:nvPr/>
          </p:nvSpPr>
          <p:spPr>
            <a:xfrm>
              <a:off x="8174174" y="1963600"/>
              <a:ext cx="443936" cy="326799"/>
            </a:xfrm>
            <a:custGeom>
              <a:avLst/>
              <a:gdLst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788485 w 3738080"/>
                <a:gd name="connsiteY5" fmla="*/ 1841061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624294 w 3738080"/>
                <a:gd name="connsiteY5" fmla="*/ 1992174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1858846 w 3738080"/>
                <a:gd name="connsiteY5" fmla="*/ 1306247 h 2751770"/>
                <a:gd name="connsiteX6" fmla="*/ 2645621 w 3738080"/>
                <a:gd name="connsiteY6" fmla="*/ 1504218 h 2751770"/>
                <a:gd name="connsiteX7" fmla="*/ 2795575 w 3738080"/>
                <a:gd name="connsiteY7" fmla="*/ 1757331 h 2751770"/>
                <a:gd name="connsiteX8" fmla="*/ 2539052 w 3738080"/>
                <a:gd name="connsiteY8" fmla="*/ 1841672 h 2751770"/>
                <a:gd name="connsiteX9" fmla="*/ 1353947 w 3738080"/>
                <a:gd name="connsiteY9" fmla="*/ 1778974 h 2751770"/>
                <a:gd name="connsiteX10" fmla="*/ 982333 w 3738080"/>
                <a:gd name="connsiteY10" fmla="*/ 1780833 h 2751770"/>
                <a:gd name="connsiteX11" fmla="*/ 966756 w 3738080"/>
                <a:gd name="connsiteY11" fmla="*/ 1667407 h 2751770"/>
                <a:gd name="connsiteX12" fmla="*/ 1217540 w 3738080"/>
                <a:gd name="connsiteY12" fmla="*/ 1445700 h 2751770"/>
                <a:gd name="connsiteX13" fmla="*/ 1858846 w 3738080"/>
                <a:gd name="connsiteY13" fmla="*/ 1306247 h 2751770"/>
                <a:gd name="connsiteX14" fmla="*/ 1828129 w 3738080"/>
                <a:gd name="connsiteY14" fmla="*/ 650059 h 2751770"/>
                <a:gd name="connsiteX15" fmla="*/ 3108200 w 3738080"/>
                <a:gd name="connsiteY15" fmla="*/ 1008980 h 2751770"/>
                <a:gd name="connsiteX16" fmla="*/ 3258155 w 3738080"/>
                <a:gd name="connsiteY16" fmla="*/ 1319033 h 2751770"/>
                <a:gd name="connsiteX17" fmla="*/ 2937692 w 3738080"/>
                <a:gd name="connsiteY17" fmla="*/ 1304637 h 2751770"/>
                <a:gd name="connsiteX18" fmla="*/ 763561 w 3738080"/>
                <a:gd name="connsiteY18" fmla="*/ 1325535 h 2751770"/>
                <a:gd name="connsiteX19" fmla="*/ 464412 w 3738080"/>
                <a:gd name="connsiteY19" fmla="*/ 1278813 h 2751770"/>
                <a:gd name="connsiteX20" fmla="*/ 450482 w 3738080"/>
                <a:gd name="connsiteY20" fmla="*/ 1202928 h 2751770"/>
                <a:gd name="connsiteX21" fmla="*/ 622892 w 3738080"/>
                <a:gd name="connsiteY21" fmla="*/ 1008979 h 2751770"/>
                <a:gd name="connsiteX22" fmla="*/ 1828129 w 3738080"/>
                <a:gd name="connsiteY22" fmla="*/ 650059 h 2751770"/>
                <a:gd name="connsiteX23" fmla="*/ 1764313 w 3738080"/>
                <a:gd name="connsiteY23" fmla="*/ 591 h 2751770"/>
                <a:gd name="connsiteX24" fmla="*/ 3559697 w 3738080"/>
                <a:gd name="connsiteY24" fmla="*/ 547180 h 2751770"/>
                <a:gd name="connsiteX25" fmla="*/ 3709650 w 3738080"/>
                <a:gd name="connsiteY25" fmla="*/ 882310 h 2751770"/>
                <a:gd name="connsiteX26" fmla="*/ 3367875 w 3738080"/>
                <a:gd name="connsiteY26" fmla="*/ 834477 h 2751770"/>
                <a:gd name="connsiteX27" fmla="*/ 318417 w 3738080"/>
                <a:gd name="connsiteY27" fmla="*/ 884635 h 2751770"/>
                <a:gd name="connsiteX28" fmla="*/ 19267 w 3738080"/>
                <a:gd name="connsiteY28" fmla="*/ 846272 h 2751770"/>
                <a:gd name="connsiteX29" fmla="*/ 275 w 3738080"/>
                <a:gd name="connsiteY29" fmla="*/ 760137 h 2751770"/>
                <a:gd name="connsiteX30" fmla="*/ 173484 w 3738080"/>
                <a:gd name="connsiteY30" fmla="*/ 547180 h 2751770"/>
                <a:gd name="connsiteX31" fmla="*/ 1764313 w 3738080"/>
                <a:gd name="connsiteY31" fmla="*/ 591 h 275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738080" h="2751770">
                  <a:moveTo>
                    <a:pt x="1869041" y="1997576"/>
                  </a:moveTo>
                  <a:cubicBezTo>
                    <a:pt x="2077306" y="1997576"/>
                    <a:pt x="2246138" y="2166408"/>
                    <a:pt x="2246138" y="2374673"/>
                  </a:cubicBezTo>
                  <a:cubicBezTo>
                    <a:pt x="2246138" y="2582938"/>
                    <a:pt x="2077306" y="2751770"/>
                    <a:pt x="1869041" y="2751770"/>
                  </a:cubicBezTo>
                  <a:cubicBezTo>
                    <a:pt x="1660776" y="2751770"/>
                    <a:pt x="1491944" y="2582938"/>
                    <a:pt x="1491944" y="2374673"/>
                  </a:cubicBezTo>
                  <a:cubicBezTo>
                    <a:pt x="1491944" y="2166408"/>
                    <a:pt x="1660776" y="1997576"/>
                    <a:pt x="1869041" y="1997576"/>
                  </a:cubicBezTo>
                  <a:close/>
                  <a:moveTo>
                    <a:pt x="1858846" y="1306247"/>
                  </a:moveTo>
                  <a:cubicBezTo>
                    <a:pt x="2165924" y="1301758"/>
                    <a:pt x="2404940" y="1399722"/>
                    <a:pt x="2645621" y="1504218"/>
                  </a:cubicBezTo>
                  <a:cubicBezTo>
                    <a:pt x="2813424" y="1597955"/>
                    <a:pt x="2823993" y="1678797"/>
                    <a:pt x="2795575" y="1757331"/>
                  </a:cubicBezTo>
                  <a:cubicBezTo>
                    <a:pt x="2761471" y="1842158"/>
                    <a:pt x="2685239" y="1908552"/>
                    <a:pt x="2539052" y="1841672"/>
                  </a:cubicBezTo>
                  <a:cubicBezTo>
                    <a:pt x="2347207" y="1684231"/>
                    <a:pt x="1733351" y="1556050"/>
                    <a:pt x="1353947" y="1778974"/>
                  </a:cubicBezTo>
                  <a:cubicBezTo>
                    <a:pt x="1250080" y="1855218"/>
                    <a:pt x="1037749" y="1915097"/>
                    <a:pt x="982333" y="1780833"/>
                  </a:cubicBezTo>
                  <a:cubicBezTo>
                    <a:pt x="968480" y="1736637"/>
                    <a:pt x="963386" y="1699601"/>
                    <a:pt x="966756" y="1667407"/>
                  </a:cubicBezTo>
                  <a:cubicBezTo>
                    <a:pt x="976866" y="1570822"/>
                    <a:pt x="1063141" y="1517802"/>
                    <a:pt x="1217540" y="1445700"/>
                  </a:cubicBezTo>
                  <a:cubicBezTo>
                    <a:pt x="1465851" y="1348519"/>
                    <a:pt x="1674601" y="1308942"/>
                    <a:pt x="1858846" y="1306247"/>
                  </a:cubicBezTo>
                  <a:close/>
                  <a:moveTo>
                    <a:pt x="1828129" y="650059"/>
                  </a:moveTo>
                  <a:cubicBezTo>
                    <a:pt x="2445754" y="646836"/>
                    <a:pt x="2937662" y="894034"/>
                    <a:pt x="3108200" y="1008980"/>
                  </a:cubicBezTo>
                  <a:cubicBezTo>
                    <a:pt x="3228810" y="1075858"/>
                    <a:pt x="3343409" y="1171509"/>
                    <a:pt x="3258155" y="1319033"/>
                  </a:cubicBezTo>
                  <a:cubicBezTo>
                    <a:pt x="3134282" y="1435449"/>
                    <a:pt x="3057301" y="1393031"/>
                    <a:pt x="2937692" y="1304637"/>
                  </a:cubicBezTo>
                  <a:cubicBezTo>
                    <a:pt x="2647778" y="1191783"/>
                    <a:pt x="2008321" y="619142"/>
                    <a:pt x="763561" y="1325535"/>
                  </a:cubicBezTo>
                  <a:cubicBezTo>
                    <a:pt x="621636" y="1425852"/>
                    <a:pt x="511304" y="1376178"/>
                    <a:pt x="464412" y="1278813"/>
                  </a:cubicBezTo>
                  <a:cubicBezTo>
                    <a:pt x="452398" y="1252494"/>
                    <a:pt x="448110" y="1227223"/>
                    <a:pt x="450482" y="1202928"/>
                  </a:cubicBezTo>
                  <a:cubicBezTo>
                    <a:pt x="457599" y="1130049"/>
                    <a:pt x="524660" y="1065987"/>
                    <a:pt x="622892" y="1008979"/>
                  </a:cubicBezTo>
                  <a:cubicBezTo>
                    <a:pt x="1041721" y="744082"/>
                    <a:pt x="1457554" y="651995"/>
                    <a:pt x="1828129" y="650059"/>
                  </a:cubicBezTo>
                  <a:close/>
                  <a:moveTo>
                    <a:pt x="1764313" y="591"/>
                  </a:moveTo>
                  <a:cubicBezTo>
                    <a:pt x="2430887" y="-13278"/>
                    <a:pt x="3056659" y="218017"/>
                    <a:pt x="3559697" y="547180"/>
                  </a:cubicBezTo>
                  <a:cubicBezTo>
                    <a:pt x="3671781" y="597338"/>
                    <a:pt x="3794905" y="759863"/>
                    <a:pt x="3709650" y="882310"/>
                  </a:cubicBezTo>
                  <a:cubicBezTo>
                    <a:pt x="3594303" y="984791"/>
                    <a:pt x="3449118" y="907547"/>
                    <a:pt x="3367875" y="834477"/>
                  </a:cubicBezTo>
                  <a:cubicBezTo>
                    <a:pt x="3193985" y="725799"/>
                    <a:pt x="1920315" y="-235561"/>
                    <a:pt x="318417" y="884635"/>
                  </a:cubicBezTo>
                  <a:cubicBezTo>
                    <a:pt x="189280" y="993311"/>
                    <a:pt x="70419" y="922739"/>
                    <a:pt x="19267" y="846272"/>
                  </a:cubicBezTo>
                  <a:cubicBezTo>
                    <a:pt x="4410" y="817516"/>
                    <a:pt x="-1388" y="788500"/>
                    <a:pt x="275" y="760137"/>
                  </a:cubicBezTo>
                  <a:cubicBezTo>
                    <a:pt x="5260" y="675044"/>
                    <a:pt x="77384" y="595829"/>
                    <a:pt x="173484" y="547180"/>
                  </a:cubicBezTo>
                  <a:cubicBezTo>
                    <a:pt x="702741" y="170471"/>
                    <a:pt x="1245868" y="11376"/>
                    <a:pt x="1764313" y="591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33"/>
            </a:p>
          </p:txBody>
        </p:sp>
      </p:grpSp>
      <p:sp>
        <p:nvSpPr>
          <p:cNvPr id="10" name="Subtitle 2">
            <a:extLst>
              <a:ext uri="{FF2B5EF4-FFF2-40B4-BE49-F238E27FC236}">
                <a16:creationId xmlns:a16="http://schemas.microsoft.com/office/drawing/2014/main" id="{53858C97-DA2F-8866-47CC-CDF4077BBF9D}"/>
              </a:ext>
            </a:extLst>
          </p:cNvPr>
          <p:cNvSpPr txBox="1">
            <a:spLocks/>
          </p:cNvSpPr>
          <p:nvPr/>
        </p:nvSpPr>
        <p:spPr>
          <a:xfrm>
            <a:off x="469976" y="1256395"/>
            <a:ext cx="365801" cy="125217"/>
          </a:xfrm>
          <a:prstGeom prst="rect">
            <a:avLst/>
          </a:prstGeom>
        </p:spPr>
        <p:txBody>
          <a:bodyPr vert="horz" lIns="81280" tIns="40640" rIns="81280" bIns="4064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2" dirty="0">
                <a:solidFill>
                  <a:srgbClr val="7030A0"/>
                </a:solidFill>
              </a:rPr>
              <a:t>PDS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9692" y="1368919"/>
            <a:ext cx="195549" cy="27874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964" y="1347118"/>
            <a:ext cx="268890" cy="25544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583" y="1380076"/>
            <a:ext cx="262872" cy="253181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27228BAE-048B-681E-DD8D-BD96B22560E0}"/>
              </a:ext>
            </a:extLst>
          </p:cNvPr>
          <p:cNvSpPr txBox="1">
            <a:spLocks/>
          </p:cNvSpPr>
          <p:nvPr/>
        </p:nvSpPr>
        <p:spPr>
          <a:xfrm>
            <a:off x="258279" y="1456524"/>
            <a:ext cx="1837447" cy="261117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1867" dirty="0">
                <a:solidFill>
                  <a:schemeClr val="accent1">
                    <a:lumMod val="75000"/>
                  </a:schemeClr>
                </a:solidFill>
              </a:rPr>
              <a:t>Computer </a:t>
            </a:r>
            <a:r>
              <a:rPr lang="en-US" sz="1867" dirty="0">
                <a:solidFill>
                  <a:srgbClr val="00B0F0"/>
                </a:solidFill>
              </a:rPr>
              <a:t>Vision</a:t>
            </a: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6403824" y="4344608"/>
            <a:ext cx="3825765" cy="451201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133" b="1" dirty="0">
                <a:solidFill>
                  <a:schemeClr val="bg1">
                    <a:lumMod val="75000"/>
                  </a:schemeClr>
                </a:solidFill>
              </a:rPr>
              <a:t>@ P. </a:t>
            </a:r>
            <a:r>
              <a:rPr lang="en-US" sz="2133" b="1" dirty="0" err="1">
                <a:solidFill>
                  <a:schemeClr val="bg1">
                    <a:lumMod val="75000"/>
                  </a:schemeClr>
                </a:solidFill>
              </a:rPr>
              <a:t>Siagian</a:t>
            </a:r>
            <a:endParaRPr lang="en-US" sz="2133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56505" y="2183132"/>
            <a:ext cx="84937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3200" dirty="0" smtClean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CCNA Academic</a:t>
            </a:r>
            <a:endParaRPr lang="en-US" sz="3200" dirty="0"/>
          </a:p>
        </p:txBody>
      </p:sp>
      <p:sp>
        <p:nvSpPr>
          <p:cNvPr id="25" name="Rectangle 24"/>
          <p:cNvSpPr/>
          <p:nvPr/>
        </p:nvSpPr>
        <p:spPr>
          <a:xfrm>
            <a:off x="9627130" y="5958533"/>
            <a:ext cx="24878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https://www.youtube.com/@AmelOline/videos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16325" y="5820034"/>
            <a:ext cx="15452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https://github.com/siagianp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01490" y="6097033"/>
            <a:ext cx="349050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https://github.com/amelcharolinesgn2/IoT_simulator-mqtt-NodeRed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09530" y="6235532"/>
            <a:ext cx="27466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05022" y="6350948"/>
            <a:ext cx="32868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https://github.com/amelcharolinesgn2/ClouD-Infrastructure-SISKA-2025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6690" y="6481799"/>
            <a:ext cx="377531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https://github.com/amelcharolinesgn2/Gyroscope-Sensor-Data-Accelerometer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5786" y="3811359"/>
            <a:ext cx="8493747" cy="8002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dirty="0" smtClean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CCNA 1, 2, 3, 4</a:t>
            </a:r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16832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Packet Traveling - Title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81162"/>
            <a:ext cx="9846274" cy="3252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6960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Networking</a:t>
            </a:r>
            <a:endParaRPr lang="en-US" dirty="0"/>
          </a:p>
        </p:txBody>
      </p:sp>
      <p:sp>
        <p:nvSpPr>
          <p:cNvPr id="4" name="AutoShape 2" descr="https://www.researchgate.net/profile/Carlos-Caicedo-4/publication/215910499/figure/fig1/AS:305893712384000@1449942152436/figure-fig1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954" y="888035"/>
            <a:ext cx="5862663" cy="495912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988" y="1857203"/>
            <a:ext cx="3293304" cy="357595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405691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80" y="828674"/>
            <a:ext cx="10227469" cy="529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967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Networking</a:t>
            </a:r>
            <a:endParaRPr lang="en-US" dirty="0"/>
          </a:p>
        </p:txBody>
      </p:sp>
      <p:sp>
        <p:nvSpPr>
          <p:cNvPr id="4" name="AutoShape 2" descr="https://www.researchgate.net/profile/Carlos-Caicedo-4/publication/215910499/figure/fig1/AS:305893712384000@1449942152436/figure-fig1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430" y="1813832"/>
            <a:ext cx="5991225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812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975" y="160338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Networking</a:t>
            </a:r>
            <a:endParaRPr lang="en-US" dirty="0"/>
          </a:p>
        </p:txBody>
      </p:sp>
      <p:sp>
        <p:nvSpPr>
          <p:cNvPr id="4" name="AutoShape 2" descr="https://www.researchgate.net/profile/Carlos-Caicedo-4/publication/215910499/figure/fig1/AS:305893712384000@1449942152436/figure-fig1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75" y="2334344"/>
            <a:ext cx="3369808" cy="26268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5575" y="1394462"/>
            <a:ext cx="29163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PAN (Personal Area Network)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3472" y="1394462"/>
            <a:ext cx="25889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LAN (Local Area Network)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8021" y="2014850"/>
            <a:ext cx="2624365" cy="196738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2065" y="1728113"/>
            <a:ext cx="4571755" cy="316467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610058" y="1394462"/>
            <a:ext cx="2702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WAN (Wide Area </a:t>
            </a:r>
            <a:r>
              <a:rPr lang="en-US" dirty="0"/>
              <a:t>Network)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1653" y="4300987"/>
            <a:ext cx="2616541" cy="174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169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148423"/>
            <a:ext cx="3292475" cy="918378"/>
          </a:xfrm>
        </p:spPr>
        <p:txBody>
          <a:bodyPr/>
          <a:lstStyle/>
          <a:p>
            <a:r>
              <a:rPr lang="en-US" dirty="0" smtClean="0"/>
              <a:t>Networking</a:t>
            </a:r>
            <a:endParaRPr lang="en-US" dirty="0"/>
          </a:p>
        </p:txBody>
      </p:sp>
      <p:sp>
        <p:nvSpPr>
          <p:cNvPr id="4" name="AutoShape 2" descr="https://www.researchgate.net/profile/Carlos-Caicedo-4/publication/215910499/figure/fig1/AS:305893712384000@1449942152436/figure-fig1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9458" name="Picture 2" descr="https://encrypted-tbn0.gstatic.com/images?q=tbn:ANd9GcRY6zUFU-TE_TfqneN8YmW5Ikm201OA764L_NEcOpXO_g&amp;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3998843"/>
            <a:ext cx="3467100" cy="2600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 descr="https://itbox.id/wp-content/uploads/2024/11/mengenal-campus-area-network-scaled.jpg"/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53" r="29687" b="4408"/>
          <a:stretch/>
        </p:blipFill>
        <p:spPr bwMode="auto">
          <a:xfrm>
            <a:off x="685800" y="1676517"/>
            <a:ext cx="3530600" cy="232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38125" y="1066801"/>
            <a:ext cx="2219325" cy="918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LAN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/>
          <a:srcRect l="1868" t="3752" r="2110" b="20838"/>
          <a:stretch/>
        </p:blipFill>
        <p:spPr>
          <a:xfrm>
            <a:off x="6671922" y="3086100"/>
            <a:ext cx="5120028" cy="2827268"/>
          </a:xfrm>
          <a:prstGeom prst="rect">
            <a:avLst/>
          </a:prstGeom>
        </p:spPr>
      </p:pic>
      <p:pic>
        <p:nvPicPr>
          <p:cNvPr id="19462" name="Picture 6" descr="Cara Membangun jaringan LAN untuk lab sekolah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0" y="4214603"/>
            <a:ext cx="3175000" cy="221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4" name="Picture 8" descr="Server Jaringan Computer 🔥 Harga &amp; Spesifikasi Terbaru September 2026"/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325" y="1108879"/>
            <a:ext cx="1977221" cy="197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 5"/>
          <p:cNvSpPr/>
          <p:nvPr/>
        </p:nvSpPr>
        <p:spPr>
          <a:xfrm>
            <a:off x="7810500" y="895350"/>
            <a:ext cx="2860675" cy="2190750"/>
          </a:xfrm>
          <a:prstGeom prst="ellips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9563100" y="2590800"/>
            <a:ext cx="342900" cy="1066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 txBox="1">
            <a:spLocks/>
          </p:cNvSpPr>
          <p:nvPr/>
        </p:nvSpPr>
        <p:spPr>
          <a:xfrm>
            <a:off x="8478506" y="924442"/>
            <a:ext cx="1835371" cy="6015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 smtClean="0"/>
              <a:t>Server</a:t>
            </a:r>
            <a:endParaRPr lang="en-US" sz="1400" dirty="0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10238802" y="1251359"/>
            <a:ext cx="2219325" cy="918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smtClean="0"/>
              <a:t>200.200.150.10</a:t>
            </a:r>
            <a:endParaRPr lang="en-US" sz="1800" dirty="0"/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10279569" y="1767655"/>
            <a:ext cx="2219325" cy="918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smtClean="0"/>
              <a:t>200.200.150.40</a:t>
            </a:r>
            <a:endParaRPr lang="en-US" sz="1800" dirty="0"/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10283825" y="1460884"/>
            <a:ext cx="2219325" cy="918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smtClean="0"/>
              <a:t>Sma2_library.sch.id</a:t>
            </a:r>
            <a:endParaRPr lang="en-US" sz="1800" dirty="0"/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10261313" y="2021246"/>
            <a:ext cx="2219325" cy="918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smtClean="0"/>
              <a:t>Barista_shop.com</a:t>
            </a:r>
            <a:endParaRPr lang="en-US" sz="1800" dirty="0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0313877" y="1019749"/>
            <a:ext cx="1835371" cy="6015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 smtClean="0"/>
              <a:t>Domain :</a:t>
            </a:r>
            <a:endParaRPr lang="en-US" sz="1400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9513325" y="2680140"/>
            <a:ext cx="2219325" cy="918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smtClean="0"/>
              <a:t>192.168.100.5</a:t>
            </a:r>
            <a:endParaRPr lang="en-US" sz="1800" dirty="0"/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7515225" y="3325147"/>
            <a:ext cx="2219325" cy="918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smtClean="0"/>
              <a:t>192.168.100.10</a:t>
            </a:r>
            <a:endParaRPr lang="en-US" sz="1800" dirty="0"/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6867525" y="4144943"/>
            <a:ext cx="2219325" cy="918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smtClean="0"/>
              <a:t>192.168.100.12</a:t>
            </a:r>
            <a:endParaRPr lang="en-US" sz="1800" dirty="0"/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7605713" y="5203786"/>
            <a:ext cx="2219325" cy="918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smtClean="0"/>
              <a:t>192.168.100.15</a:t>
            </a:r>
            <a:endParaRPr lang="en-US" sz="1800" dirty="0"/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9129139" y="4865076"/>
            <a:ext cx="2219325" cy="918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smtClean="0"/>
              <a:t>192.168.100.18</a:t>
            </a:r>
            <a:endParaRPr lang="en-US" sz="1800" dirty="0"/>
          </a:p>
        </p:txBody>
      </p:sp>
      <p:sp>
        <p:nvSpPr>
          <p:cNvPr id="25" name="Title 1"/>
          <p:cNvSpPr txBox="1">
            <a:spLocks/>
          </p:cNvSpPr>
          <p:nvPr/>
        </p:nvSpPr>
        <p:spPr>
          <a:xfrm>
            <a:off x="10506416" y="5454179"/>
            <a:ext cx="2219325" cy="918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smtClean="0"/>
              <a:t>192.168.100.20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78595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55575" y="148423"/>
            <a:ext cx="3292475" cy="918378"/>
          </a:xfrm>
        </p:spPr>
        <p:txBody>
          <a:bodyPr/>
          <a:lstStyle/>
          <a:p>
            <a:r>
              <a:rPr lang="en-US" dirty="0" smtClean="0"/>
              <a:t>Networking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38125" y="1066801"/>
            <a:ext cx="2219325" cy="918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Cable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63" y="2206795"/>
            <a:ext cx="2109787" cy="20889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72" y="4517391"/>
            <a:ext cx="2405567" cy="176568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0887" y="1788414"/>
            <a:ext cx="5719891" cy="398373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4715" y="148423"/>
            <a:ext cx="1271531" cy="154543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0899" y="148423"/>
            <a:ext cx="1545431" cy="154543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7002" y="2206795"/>
            <a:ext cx="1114425" cy="11144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6862435">
            <a:off x="10495205" y="2139958"/>
            <a:ext cx="1040314" cy="108636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89161" y="4100480"/>
            <a:ext cx="2417089" cy="322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797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320" y="4738689"/>
            <a:ext cx="1784129" cy="17204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497419" flipH="1" flipV="1">
            <a:off x="2897274" y="4038376"/>
            <a:ext cx="2269859" cy="152648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2711051" y="1609726"/>
            <a:ext cx="2225881" cy="8919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975" y="160338"/>
            <a:ext cx="10515600" cy="5111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Networking</a:t>
            </a:r>
            <a:endParaRPr lang="en-US" dirty="0"/>
          </a:p>
        </p:txBody>
      </p:sp>
      <p:sp>
        <p:nvSpPr>
          <p:cNvPr id="4" name="AutoShape 2" descr="https://www.researchgate.net/profile/Carlos-Caicedo-4/publication/215910499/figure/fig1/AS:305893712384000@1449942152436/figure-fig1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07975" y="1131888"/>
            <a:ext cx="1692275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Server</a:t>
            </a:r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07975" y="5380038"/>
            <a:ext cx="1692275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Client</a:t>
            </a:r>
            <a:endParaRPr lang="en-US" dirty="0"/>
          </a:p>
        </p:txBody>
      </p:sp>
      <p:pic>
        <p:nvPicPr>
          <p:cNvPr id="7" name="Picture 8" descr="Server Jaringan Computer 🔥 Harga &amp; Spesifikasi Terbaru September 2026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639" y="1823255"/>
            <a:ext cx="1977221" cy="197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/>
          <p:cNvSpPr/>
          <p:nvPr/>
        </p:nvSpPr>
        <p:spPr>
          <a:xfrm>
            <a:off x="578814" y="1609726"/>
            <a:ext cx="2860675" cy="2190750"/>
          </a:xfrm>
          <a:prstGeom prst="ellipse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246820" y="1638818"/>
            <a:ext cx="1835371" cy="6015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 smtClean="0"/>
              <a:t>Server</a:t>
            </a:r>
            <a:endParaRPr lang="en-US" sz="14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4988698" y="1951527"/>
            <a:ext cx="3125578" cy="3147936"/>
          </a:xfrm>
          <a:prstGeom prst="rect">
            <a:avLst/>
          </a:prstGeom>
        </p:spPr>
      </p:pic>
      <p:pic>
        <p:nvPicPr>
          <p:cNvPr id="17412" name="Picture 4" descr="Cisco Catalyst WS-C3850-24P-S 24 PoE 10 GbE | Reboot IT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32" b="35968"/>
          <a:stretch/>
        </p:blipFill>
        <p:spPr bwMode="auto">
          <a:xfrm>
            <a:off x="8583706" y="2677116"/>
            <a:ext cx="3511608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itle 1"/>
          <p:cNvSpPr txBox="1">
            <a:spLocks/>
          </p:cNvSpPr>
          <p:nvPr/>
        </p:nvSpPr>
        <p:spPr>
          <a:xfrm>
            <a:off x="9977437" y="2044599"/>
            <a:ext cx="1692275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Switch</a:t>
            </a:r>
            <a:endParaRPr lang="en-US" dirty="0"/>
          </a:p>
        </p:txBody>
      </p:sp>
      <p:sp>
        <p:nvSpPr>
          <p:cNvPr id="13" name="AutoShape 6" descr="Cat6 Utp Flat Ethernet Cable - Foyun Cable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23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24132" y="173397"/>
            <a:ext cx="10515600" cy="739056"/>
          </a:xfrm>
        </p:spPr>
        <p:txBody>
          <a:bodyPr>
            <a:normAutofit/>
          </a:bodyPr>
          <a:lstStyle/>
          <a:p>
            <a:r>
              <a:rPr lang="en-ID" sz="1600" dirty="0" smtClean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LAN</a:t>
            </a:r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32" y="753622"/>
            <a:ext cx="3434443" cy="29232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01" y="3962610"/>
            <a:ext cx="3646303" cy="28953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3395" y="1961734"/>
            <a:ext cx="6027535" cy="40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776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160339"/>
            <a:ext cx="10515600" cy="696912"/>
          </a:xfrm>
        </p:spPr>
        <p:txBody>
          <a:bodyPr/>
          <a:lstStyle/>
          <a:p>
            <a:r>
              <a:rPr lang="en-US" dirty="0" smtClean="0"/>
              <a:t>Networking</a:t>
            </a:r>
            <a:endParaRPr lang="en-US" dirty="0"/>
          </a:p>
        </p:txBody>
      </p:sp>
      <p:sp>
        <p:nvSpPr>
          <p:cNvPr id="4" name="AutoShape 2" descr="https://www.researchgate.net/profile/Carlos-Caicedo-4/publication/215910499/figure/fig1/AS:305893712384000@1449942152436/figure-fig1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07975" y="1131888"/>
            <a:ext cx="1692275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Server</a:t>
            </a:r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727075" y="1662112"/>
            <a:ext cx="3101975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OS : Ubuntu Server</a:t>
            </a:r>
            <a:endParaRPr lang="en-US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93825" y="2173287"/>
            <a:ext cx="3806825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 smtClean="0">
                <a:solidFill>
                  <a:srgbClr val="002060"/>
                </a:solidFill>
              </a:rPr>
              <a:t>OS : Ubuntu Server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829550" y="2305763"/>
            <a:ext cx="80391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https://www.belajarlinux.org/langkah-langkah-proses-instalasi-server-ubuntu/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5637" y="3689770"/>
            <a:ext cx="48682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400" b="1" dirty="0" smtClean="0">
                <a:solidFill>
                  <a:srgbClr val="002060"/>
                </a:solidFill>
              </a:rPr>
              <a:t>Konfigurasi </a:t>
            </a:r>
            <a:r>
              <a:rPr lang="it-IT" sz="2400" b="1" dirty="0">
                <a:solidFill>
                  <a:srgbClr val="002060"/>
                </a:solidFill>
              </a:rPr>
              <a:t>Apache di Ubuntu Server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30647" y="4151435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http://www.onnocenter.or.id/wiki/index.php/Instalasi_dan_konfigurasi_Apache_di_Ubuntu_Server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00250" y="4341209"/>
            <a:ext cx="31609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solidFill>
                  <a:srgbClr val="002060"/>
                </a:solidFill>
              </a:rPr>
              <a:t>Konfigurasi</a:t>
            </a:r>
            <a:r>
              <a:rPr lang="en-US" sz="2400" b="1" dirty="0">
                <a:solidFill>
                  <a:srgbClr val="002060"/>
                </a:solidFill>
              </a:rPr>
              <a:t> Web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30647" y="4782687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https://idcloudhost.com/panduan/cara-membangun-web-server-di-ubuntu/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30647" y="5013519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dirty="0"/>
              <a:t>https://www.digitalocean.com/community/tutorials/how-to-configure-the-apache-web-server-on-an-ubuntu-or-debian-vps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1925637" y="2689355"/>
            <a:ext cx="3806825" cy="5111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 smtClean="0">
                <a:solidFill>
                  <a:srgbClr val="002060"/>
                </a:solidFill>
              </a:rPr>
              <a:t>DHCP, DNS Server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887476" y="2760276"/>
            <a:ext cx="350929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/>
              <a:t>https://zonabiner.com/tutorial/ubuntu/konfigurasi-dhcp-server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87476" y="2932634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https://musaamin.web.id/cara-konfigurasi-dhcp-server-di-ubuntu/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87476" y="3126690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https://www.pusatcaracara.com/2021/12/cara-membuat-dhcp-server-di-linux-ubuntu.html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7476" y="3352827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https://www.idn.id/konfigurasi-dns-resolver-di-linux-untuk-server/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233275" y="2684462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https://setiyobudi9.wordpress.com/2012/10/05/instalasi-dan-konfigurasi-dhcp-server-pada-ubuntu/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8319" y="2978148"/>
            <a:ext cx="1586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Instalasi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BIND9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192000" y="3275882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https://zonabiner.com/konfigurasi-dns-dengan-bind-ubuntu-20-04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233275" y="3391453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https://ccasp.wordpress.com/2009/12/02/install-dan-konfigurasi-dasar-dns-server-di-ubuntu/</a:t>
            </a:r>
          </a:p>
        </p:txBody>
      </p:sp>
    </p:spTree>
    <p:extLst>
      <p:ext uri="{BB962C8B-B14F-4D97-AF65-F5344CB8AC3E}">
        <p14:creationId xmlns:p14="http://schemas.microsoft.com/office/powerpoint/2010/main" val="1847304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160338"/>
            <a:ext cx="10515600" cy="4730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Networking</a:t>
            </a:r>
            <a:endParaRPr lang="en-US" dirty="0"/>
          </a:p>
        </p:txBody>
      </p:sp>
      <p:sp>
        <p:nvSpPr>
          <p:cNvPr id="4" name="AutoShape 2" descr="https://www.researchgate.net/profile/Carlos-Caicedo-4/publication/215910499/figure/fig1/AS:305893712384000@1449942152436/figure-fig1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8434" name="Picture 2" descr="Ilustrasi Jaringan Kompu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2179637"/>
            <a:ext cx="6667500" cy="364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384175" y="938214"/>
            <a:ext cx="10515600" cy="473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IP Address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950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126671" cy="467517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sz="2800" dirty="0" smtClean="0"/>
              <a:t>CCNA</a:t>
            </a:r>
            <a:endParaRPr 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113731" y="467517"/>
            <a:ext cx="376223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CCNA 1 	 	-	 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01_Explore_the_Network	 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02_Configure_a_Network_Operating_System 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03_Network_Protocols_and_Communication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04_Network_Access	 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05_Ethernet 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06_Network_Layer	 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07_IP_Addressing	 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08_Subnetting_IP_Networks 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09_Transport_Layer 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10_Application_Layer	 </a:t>
            </a:r>
          </a:p>
          <a:p>
            <a:r>
              <a:rPr lang="en-US" sz="1400" dirty="0" smtClean="0"/>
              <a:t>[1] </a:t>
            </a:r>
            <a:r>
              <a:rPr lang="en-US" sz="1400" dirty="0"/>
              <a:t>11_Build_a_Small_Network	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731" y="3469776"/>
            <a:ext cx="3393744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CCNA 2 	 	-	 </a:t>
            </a:r>
          </a:p>
          <a:p>
            <a:r>
              <a:rPr lang="en-US" sz="1400" dirty="0" smtClean="0"/>
              <a:t>[2] </a:t>
            </a:r>
            <a:r>
              <a:rPr lang="en-US" sz="1400" dirty="0"/>
              <a:t>01_Routing_Concept	 </a:t>
            </a:r>
          </a:p>
          <a:p>
            <a:r>
              <a:rPr lang="en-US" sz="1400" dirty="0" smtClean="0"/>
              <a:t>[2] </a:t>
            </a:r>
            <a:r>
              <a:rPr lang="en-US" sz="1400" dirty="0"/>
              <a:t>02_Static_Routing	 </a:t>
            </a:r>
          </a:p>
          <a:p>
            <a:r>
              <a:rPr lang="en-US" sz="1400" dirty="0" smtClean="0"/>
              <a:t>[2] </a:t>
            </a:r>
            <a:r>
              <a:rPr lang="en-US" sz="1400" dirty="0"/>
              <a:t>03_Dynamic_Routing</a:t>
            </a:r>
          </a:p>
          <a:p>
            <a:r>
              <a:rPr lang="en-US" sz="1400" dirty="0" smtClean="0"/>
              <a:t>[2] </a:t>
            </a:r>
            <a:r>
              <a:rPr lang="en-US" sz="1400" dirty="0"/>
              <a:t>04_Switched_Networks	 </a:t>
            </a:r>
          </a:p>
          <a:p>
            <a:r>
              <a:rPr lang="en-US" sz="1400" dirty="0" smtClean="0"/>
              <a:t>[2] </a:t>
            </a:r>
            <a:r>
              <a:rPr lang="en-US" sz="1400" dirty="0"/>
              <a:t>05_Switch_Configuration	 </a:t>
            </a:r>
          </a:p>
          <a:p>
            <a:r>
              <a:rPr lang="en-US" sz="1400" dirty="0" smtClean="0"/>
              <a:t>[2] </a:t>
            </a:r>
            <a:r>
              <a:rPr lang="en-US" sz="1400" dirty="0"/>
              <a:t>06_VLANs	 </a:t>
            </a:r>
          </a:p>
          <a:p>
            <a:r>
              <a:rPr lang="en-US" sz="1400" dirty="0" smtClean="0"/>
              <a:t>[2] </a:t>
            </a:r>
            <a:r>
              <a:rPr lang="en-US" sz="1400" dirty="0"/>
              <a:t>07_Access_Control_Lists	 </a:t>
            </a:r>
          </a:p>
          <a:p>
            <a:r>
              <a:rPr lang="en-US" sz="1400" dirty="0" smtClean="0"/>
              <a:t>[2] </a:t>
            </a:r>
            <a:r>
              <a:rPr lang="en-US" sz="1400" dirty="0"/>
              <a:t>08_DHCP	 </a:t>
            </a:r>
          </a:p>
          <a:p>
            <a:r>
              <a:rPr lang="en-US" sz="1400" dirty="0" smtClean="0"/>
              <a:t>[2] </a:t>
            </a:r>
            <a:r>
              <a:rPr lang="en-US" sz="1400" dirty="0"/>
              <a:t>09_NAT_for_IPv4	 </a:t>
            </a:r>
          </a:p>
          <a:p>
            <a:r>
              <a:rPr lang="en-US" sz="1400" dirty="0" smtClean="0"/>
              <a:t>[2] </a:t>
            </a:r>
            <a:r>
              <a:rPr lang="en-US" sz="1400" dirty="0"/>
              <a:t>10_Discover_Manage_Maintenance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60672" y="467517"/>
            <a:ext cx="3907971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CCNA 3 	 	 	-	 </a:t>
            </a:r>
          </a:p>
          <a:p>
            <a:r>
              <a:rPr lang="en-US" sz="1400" dirty="0"/>
              <a:t>[3] 01_LAN_Design	 </a:t>
            </a:r>
          </a:p>
          <a:p>
            <a:r>
              <a:rPr lang="en-US" sz="1400" dirty="0"/>
              <a:t>[3] 02_Scaling_VLANs </a:t>
            </a:r>
          </a:p>
          <a:p>
            <a:r>
              <a:rPr lang="en-US" sz="1400" dirty="0"/>
              <a:t>[3] 03_STP</a:t>
            </a:r>
          </a:p>
          <a:p>
            <a:r>
              <a:rPr lang="en-US" sz="1400" dirty="0"/>
              <a:t>[3] 04_EtherChannel_HSRP </a:t>
            </a:r>
          </a:p>
          <a:p>
            <a:r>
              <a:rPr lang="en-US" sz="1400" dirty="0"/>
              <a:t>[3] 05_Dynamic_Routing</a:t>
            </a:r>
          </a:p>
          <a:p>
            <a:r>
              <a:rPr lang="en-US" sz="1400" dirty="0"/>
              <a:t>[3] 06_EIGRP </a:t>
            </a:r>
          </a:p>
          <a:p>
            <a:r>
              <a:rPr lang="en-US" sz="1400" dirty="0"/>
              <a:t>[3] 07_EIGRP_Tune </a:t>
            </a:r>
          </a:p>
          <a:p>
            <a:r>
              <a:rPr lang="en-US" sz="1400" dirty="0"/>
              <a:t>[3] 08_Single_Area_OSPF.	 </a:t>
            </a:r>
          </a:p>
          <a:p>
            <a:r>
              <a:rPr lang="en-US" sz="1400" dirty="0"/>
              <a:t>[3] 09_Multiarea_OSPF</a:t>
            </a:r>
          </a:p>
          <a:p>
            <a:r>
              <a:rPr lang="en-US" sz="1400" dirty="0"/>
              <a:t>[3] 10_OSPF_Tuning_Tshoot </a:t>
            </a:r>
          </a:p>
        </p:txBody>
      </p:sp>
      <p:sp>
        <p:nvSpPr>
          <p:cNvPr id="8" name="Rectangle 7"/>
          <p:cNvSpPr/>
          <p:nvPr/>
        </p:nvSpPr>
        <p:spPr>
          <a:xfrm>
            <a:off x="6460672" y="3469776"/>
            <a:ext cx="403859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CCNA 4	 </a:t>
            </a:r>
          </a:p>
          <a:p>
            <a:r>
              <a:rPr lang="en-US" sz="1400" dirty="0"/>
              <a:t>[4] 01_WAN_Concepts</a:t>
            </a:r>
          </a:p>
          <a:p>
            <a:r>
              <a:rPr lang="en-US" sz="1400" dirty="0"/>
              <a:t>[4] 02_Point-to-Point_Connections</a:t>
            </a:r>
          </a:p>
          <a:p>
            <a:r>
              <a:rPr lang="en-US" sz="1400" dirty="0"/>
              <a:t>[4] 03_Branch_Connections	 </a:t>
            </a:r>
          </a:p>
          <a:p>
            <a:r>
              <a:rPr lang="en-US" sz="1400" dirty="0"/>
              <a:t>[4] 04_Access_Control_Lists	 </a:t>
            </a:r>
          </a:p>
          <a:p>
            <a:r>
              <a:rPr lang="en-US" sz="1400" dirty="0"/>
              <a:t>[4] 05_Network_Security_and_Monitoring </a:t>
            </a:r>
          </a:p>
          <a:p>
            <a:r>
              <a:rPr lang="en-US" sz="1400" dirty="0"/>
              <a:t>[4] 06_Quality_of_Service	 </a:t>
            </a:r>
          </a:p>
          <a:p>
            <a:r>
              <a:rPr lang="en-US" sz="1400" dirty="0"/>
              <a:t>[4] 07_Network_Evolution</a:t>
            </a:r>
          </a:p>
          <a:p>
            <a:r>
              <a:rPr lang="en-US" sz="1400" dirty="0"/>
              <a:t>[4] 08_Network_Troubleshooting	</a:t>
            </a:r>
          </a:p>
        </p:txBody>
      </p:sp>
    </p:spTree>
    <p:extLst>
      <p:ext uri="{BB962C8B-B14F-4D97-AF65-F5344CB8AC3E}">
        <p14:creationId xmlns:p14="http://schemas.microsoft.com/office/powerpoint/2010/main" val="358268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191000" cy="598261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Link</a:t>
            </a:r>
            <a:r>
              <a:rPr lang="en-US" dirty="0" smtClean="0"/>
              <a:t> </a:t>
            </a:r>
            <a:r>
              <a:rPr lang="en-US" sz="1800" dirty="0" smtClean="0"/>
              <a:t>CCNA Module Cisco Academic </a:t>
            </a:r>
            <a:endParaRPr lang="en-US" sz="18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2144486" y="1924505"/>
            <a:ext cx="6525986" cy="613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002060"/>
                </a:solidFill>
              </a:rPr>
              <a:t>CCNA 1 v7: </a:t>
            </a:r>
            <a:r>
              <a:rPr lang="en-US" sz="1900" dirty="0"/>
              <a:t>https://github.com/amelcharolinesgn2/CCNA-1-v7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144486" y="2231402"/>
            <a:ext cx="6362700" cy="829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002060"/>
                </a:solidFill>
              </a:rPr>
              <a:t>CCNA </a:t>
            </a:r>
            <a:r>
              <a:rPr lang="en-US" sz="2000" b="1" dirty="0" smtClean="0">
                <a:solidFill>
                  <a:srgbClr val="002060"/>
                </a:solidFill>
              </a:rPr>
              <a:t>2 </a:t>
            </a:r>
            <a:r>
              <a:rPr lang="en-US" sz="2000" b="1" dirty="0">
                <a:solidFill>
                  <a:srgbClr val="002060"/>
                </a:solidFill>
              </a:rPr>
              <a:t>v7: </a:t>
            </a:r>
            <a:r>
              <a:rPr lang="en-US" sz="1900" dirty="0"/>
              <a:t>https://</a:t>
            </a:r>
            <a:r>
              <a:rPr lang="en-US" sz="1900" dirty="0" smtClean="0"/>
              <a:t>github.com/amelcharolinesgn2/CCNA-2-v7</a:t>
            </a:r>
            <a:endParaRPr lang="en-US" sz="19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924050" y="1561931"/>
            <a:ext cx="4191000" cy="5982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 smtClean="0">
                <a:solidFill>
                  <a:srgbClr val="7030A0"/>
                </a:solidFill>
              </a:rPr>
              <a:t>Jaringan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</a:rPr>
              <a:t>Komputer</a:t>
            </a:r>
            <a:endParaRPr lang="en-US" sz="18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983921" y="3537688"/>
            <a:ext cx="4191000" cy="5982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 smtClean="0">
                <a:solidFill>
                  <a:srgbClr val="7030A0"/>
                </a:solidFill>
              </a:rPr>
              <a:t>Antar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</a:rPr>
              <a:t>Jaringan</a:t>
            </a:r>
            <a:endParaRPr lang="en-US" sz="1800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307772" y="4023803"/>
            <a:ext cx="6362700" cy="829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002060"/>
                </a:solidFill>
              </a:rPr>
              <a:t>CCNA </a:t>
            </a:r>
            <a:r>
              <a:rPr lang="en-US" sz="2000" b="1" dirty="0" smtClean="0">
                <a:solidFill>
                  <a:srgbClr val="002060"/>
                </a:solidFill>
              </a:rPr>
              <a:t>3 </a:t>
            </a:r>
            <a:r>
              <a:rPr lang="en-US" sz="2000" b="1" dirty="0">
                <a:solidFill>
                  <a:srgbClr val="002060"/>
                </a:solidFill>
              </a:rPr>
              <a:t>v7: </a:t>
            </a:r>
            <a:r>
              <a:rPr lang="en-US" sz="1900" dirty="0"/>
              <a:t>https://</a:t>
            </a:r>
            <a:r>
              <a:rPr lang="en-US" sz="1900" dirty="0" smtClean="0"/>
              <a:t>github.com/amelcharolinesgn2/CCNA-3-v7</a:t>
            </a:r>
            <a:endParaRPr lang="en-US" sz="1900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307772" y="4593035"/>
            <a:ext cx="6362700" cy="829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002060"/>
                </a:solidFill>
              </a:rPr>
              <a:t>CCNA </a:t>
            </a:r>
            <a:r>
              <a:rPr lang="en-US" sz="2000" b="1" dirty="0" smtClean="0">
                <a:solidFill>
                  <a:srgbClr val="002060"/>
                </a:solidFill>
              </a:rPr>
              <a:t>4 </a:t>
            </a:r>
            <a:r>
              <a:rPr lang="en-US" sz="2000" b="1" dirty="0">
                <a:solidFill>
                  <a:srgbClr val="002060"/>
                </a:solidFill>
              </a:rPr>
              <a:t>v7: </a:t>
            </a:r>
            <a:r>
              <a:rPr lang="en-US" sz="1900" dirty="0"/>
              <a:t>https://</a:t>
            </a:r>
            <a:r>
              <a:rPr lang="en-US" sz="1900" dirty="0" smtClean="0"/>
              <a:t>github.com/amelcharolinesgn2/CCNA-4-v7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478560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132" y="173397"/>
            <a:ext cx="10515600" cy="739056"/>
          </a:xfrm>
        </p:spPr>
        <p:txBody>
          <a:bodyPr>
            <a:normAutofit/>
          </a:bodyPr>
          <a:lstStyle/>
          <a:p>
            <a:r>
              <a:rPr lang="en-ID" sz="1600" dirty="0" err="1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Jaringan</a:t>
            </a:r>
            <a:r>
              <a:rPr lang="en-ID" sz="1600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rial" panose="020B0604020202020204" pitchFamily="34" charset="0"/>
              </a:rPr>
              <a:t> WAN 4 Server DNS, WEB, MAIL, DHCP - Cisco Packet Tracer</a:t>
            </a:r>
            <a:endParaRPr lang="en-US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824" y="3999568"/>
            <a:ext cx="2343426" cy="263666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7195" y="2066925"/>
            <a:ext cx="1334684" cy="203424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987" y="1171722"/>
            <a:ext cx="7490844" cy="42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687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iga orang berbicara — Foto Stok © orlaimagen #6205769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197" y="1808970"/>
            <a:ext cx="4110803" cy="308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 rot="10800000">
            <a:off x="4086419" y="3508349"/>
            <a:ext cx="1807135" cy="15622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Rectangle 4"/>
          <p:cNvSpPr/>
          <p:nvPr/>
        </p:nvSpPr>
        <p:spPr>
          <a:xfrm>
            <a:off x="838200" y="5374342"/>
            <a:ext cx="9708776" cy="7888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153" y="5451525"/>
            <a:ext cx="812987" cy="63452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554322" y="5728243"/>
            <a:ext cx="24878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https://www.youtube.com/@AmelOline/videos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43517" y="5589744"/>
            <a:ext cx="15452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https://github.com/siagianp</a:t>
            </a:r>
          </a:p>
        </p:txBody>
      </p:sp>
      <p:sp>
        <p:nvSpPr>
          <p:cNvPr id="9" name="Rectangle 8"/>
          <p:cNvSpPr/>
          <p:nvPr/>
        </p:nvSpPr>
        <p:spPr>
          <a:xfrm>
            <a:off x="8628682" y="5866743"/>
            <a:ext cx="349050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https://github.com/amelcharolinesgn2/IoT_simulator-mqtt-NodeRed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36722" y="6005242"/>
            <a:ext cx="27466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32214" y="6120658"/>
            <a:ext cx="32868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https://github.com/amelcharolinesgn2/ClouD-Infrastructure-SISKA-2025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43882" y="6251509"/>
            <a:ext cx="377531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https://github.com/amelcharolinesgn2/Gyroscope-Sensor-Data-Accelerometer</a:t>
            </a:r>
          </a:p>
        </p:txBody>
      </p:sp>
    </p:spTree>
    <p:extLst>
      <p:ext uri="{BB962C8B-B14F-4D97-AF65-F5344CB8AC3E}">
        <p14:creationId xmlns:p14="http://schemas.microsoft.com/office/powerpoint/2010/main" val="2527886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7185</TotalTime>
  <Words>283</Words>
  <Application>Microsoft Office PowerPoint</Application>
  <PresentationFormat>Widescreen</PresentationFormat>
  <Paragraphs>140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맑은 고딕</vt:lpstr>
      <vt:lpstr>Arial</vt:lpstr>
      <vt:lpstr>Calibri</vt:lpstr>
      <vt:lpstr>Calibri Light</vt:lpstr>
      <vt:lpstr>Segoe UI Symbol</vt:lpstr>
      <vt:lpstr>Office Theme</vt:lpstr>
      <vt:lpstr>PowerPoint Presentation</vt:lpstr>
      <vt:lpstr>PowerPoint Presentation</vt:lpstr>
      <vt:lpstr>Networking</vt:lpstr>
      <vt:lpstr>PowerPoint Presentation</vt:lpstr>
      <vt:lpstr>Networking</vt:lpstr>
      <vt:lpstr>Networking</vt:lpstr>
      <vt:lpstr>Networking</vt:lpstr>
      <vt:lpstr>Networking</vt:lpstr>
      <vt:lpstr>Networking</vt:lpstr>
      <vt:lpstr>LAN</vt:lpstr>
      <vt:lpstr>Networking</vt:lpstr>
      <vt:lpstr>Networking</vt:lpstr>
      <vt:lpstr>CCNA</vt:lpstr>
      <vt:lpstr>Link CCNA Module Cisco Academic </vt:lpstr>
      <vt:lpstr>Jaringan WAN 4 Server DNS, WEB, MAIL, DHCP - Cisco Packet Tracer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pds</dc:title>
  <dc:creator>pds</dc:creator>
  <cp:lastModifiedBy>PDS</cp:lastModifiedBy>
  <cp:revision>117</cp:revision>
  <dcterms:created xsi:type="dcterms:W3CDTF">2022-08-25T13:17:53Z</dcterms:created>
  <dcterms:modified xsi:type="dcterms:W3CDTF">2026-09-07T10:01:37Z</dcterms:modified>
</cp:coreProperties>
</file>