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7" r:id="rId1"/>
  </p:sldMasterIdLst>
  <p:notesMasterIdLst>
    <p:notesMasterId r:id="rId27"/>
  </p:notesMasterIdLst>
  <p:sldIdLst>
    <p:sldId id="370" r:id="rId2"/>
    <p:sldId id="403" r:id="rId3"/>
    <p:sldId id="402" r:id="rId4"/>
    <p:sldId id="401" r:id="rId5"/>
    <p:sldId id="406" r:id="rId6"/>
    <p:sldId id="404" r:id="rId7"/>
    <p:sldId id="384" r:id="rId8"/>
    <p:sldId id="405" r:id="rId9"/>
    <p:sldId id="385" r:id="rId10"/>
    <p:sldId id="386" r:id="rId11"/>
    <p:sldId id="387" r:id="rId12"/>
    <p:sldId id="388" r:id="rId13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38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1A9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0943" autoAdjust="0"/>
  </p:normalViewPr>
  <p:slideViewPr>
    <p:cSldViewPr snapToGrid="0">
      <p:cViewPr varScale="1">
        <p:scale>
          <a:sx n="69" d="100"/>
          <a:sy n="69" d="100"/>
        </p:scale>
        <p:origin x="6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07835E-A310-4AE2-B20D-215C69C983D7}" type="doc">
      <dgm:prSet loTypeId="urn:microsoft.com/office/officeart/2005/8/layout/radial4" loCatId="relationship" qsTypeId="urn:microsoft.com/office/officeart/2009/2/quickstyle/3d8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6EFF303-8B0E-4806-9D72-5108A252096E}">
      <dgm:prSet phldrT="[Text]"/>
      <dgm:spPr/>
      <dgm:t>
        <a:bodyPr/>
        <a:lstStyle/>
        <a:p>
          <a:r>
            <a:rPr lang="en-US" dirty="0"/>
            <a:t>SISTEM JARINGAN KOMPUTER</a:t>
          </a:r>
        </a:p>
      </dgm:t>
    </dgm:pt>
    <dgm:pt modelId="{FB91CFE3-73AC-4E0B-BC4C-CF2215C0FEDF}" type="parTrans" cxnId="{AB6490F0-31A2-41D9-BC27-F84D81627F56}">
      <dgm:prSet/>
      <dgm:spPr/>
      <dgm:t>
        <a:bodyPr/>
        <a:lstStyle/>
        <a:p>
          <a:endParaRPr lang="en-US"/>
        </a:p>
      </dgm:t>
    </dgm:pt>
    <dgm:pt modelId="{FE6A02A4-E32C-4AEF-B260-E2706F0739AB}" type="sibTrans" cxnId="{AB6490F0-31A2-41D9-BC27-F84D81627F56}">
      <dgm:prSet/>
      <dgm:spPr/>
      <dgm:t>
        <a:bodyPr/>
        <a:lstStyle/>
        <a:p>
          <a:endParaRPr lang="en-US"/>
        </a:p>
      </dgm:t>
    </dgm:pt>
    <dgm:pt modelId="{A8E72BD4-BB25-4067-884E-CFA402B97619}">
      <dgm:prSet phldrT="[Text]"/>
      <dgm:spPr/>
      <dgm:t>
        <a:bodyPr/>
        <a:lstStyle/>
        <a:p>
          <a:r>
            <a:rPr lang="en-US" dirty="0"/>
            <a:t>ADMINISTRATOR</a:t>
          </a:r>
        </a:p>
      </dgm:t>
    </dgm:pt>
    <dgm:pt modelId="{CFA2826F-6B97-4514-A68E-A95EC0DD2E39}" type="parTrans" cxnId="{F8674411-FC0F-4BE6-9A95-9FBF4B8BE66C}">
      <dgm:prSet/>
      <dgm:spPr/>
      <dgm:t>
        <a:bodyPr/>
        <a:lstStyle/>
        <a:p>
          <a:endParaRPr lang="en-US"/>
        </a:p>
      </dgm:t>
    </dgm:pt>
    <dgm:pt modelId="{054A08AD-EFC6-431C-9F38-C19717A3F1D0}" type="sibTrans" cxnId="{F8674411-FC0F-4BE6-9A95-9FBF4B8BE66C}">
      <dgm:prSet/>
      <dgm:spPr/>
      <dgm:t>
        <a:bodyPr/>
        <a:lstStyle/>
        <a:p>
          <a:endParaRPr lang="en-US"/>
        </a:p>
      </dgm:t>
    </dgm:pt>
    <dgm:pt modelId="{6F75733E-7EDB-4975-9AB6-3A0519EE193B}">
      <dgm:prSet phldrT="[Text]"/>
      <dgm:spPr/>
      <dgm:t>
        <a:bodyPr/>
        <a:lstStyle/>
        <a:p>
          <a:r>
            <a:rPr lang="en-US" dirty="0"/>
            <a:t>USER</a:t>
          </a:r>
        </a:p>
      </dgm:t>
    </dgm:pt>
    <dgm:pt modelId="{A5D3FA43-BA28-4E54-BB71-EA3B1E3006D9}" type="parTrans" cxnId="{4E4A244D-C145-43A0-8B1F-4EA8210F0E54}">
      <dgm:prSet/>
      <dgm:spPr/>
      <dgm:t>
        <a:bodyPr/>
        <a:lstStyle/>
        <a:p>
          <a:endParaRPr lang="en-US"/>
        </a:p>
      </dgm:t>
    </dgm:pt>
    <dgm:pt modelId="{243B5C6D-E21C-4229-B88E-718A46842FFD}" type="sibTrans" cxnId="{4E4A244D-C145-43A0-8B1F-4EA8210F0E54}">
      <dgm:prSet/>
      <dgm:spPr/>
      <dgm:t>
        <a:bodyPr/>
        <a:lstStyle/>
        <a:p>
          <a:endParaRPr lang="en-US"/>
        </a:p>
      </dgm:t>
    </dgm:pt>
    <dgm:pt modelId="{6AE8C974-B11B-455A-8D17-900C56E6A295}">
      <dgm:prSet phldrT="[Text]"/>
      <dgm:spPr/>
      <dgm:t>
        <a:bodyPr/>
        <a:lstStyle/>
        <a:p>
          <a:r>
            <a:rPr lang="en-US" dirty="0"/>
            <a:t>SERVICE</a:t>
          </a:r>
        </a:p>
        <a:p>
          <a:r>
            <a:rPr lang="en-US" dirty="0"/>
            <a:t>(LAYANAN)</a:t>
          </a:r>
        </a:p>
      </dgm:t>
    </dgm:pt>
    <dgm:pt modelId="{B92E123F-D3D2-43DA-AA3C-C3AE9B4D7AA2}" type="parTrans" cxnId="{3F19373B-6A9D-458E-ADEA-93CCFE3E6876}">
      <dgm:prSet/>
      <dgm:spPr/>
      <dgm:t>
        <a:bodyPr/>
        <a:lstStyle/>
        <a:p>
          <a:endParaRPr lang="en-US"/>
        </a:p>
      </dgm:t>
    </dgm:pt>
    <dgm:pt modelId="{BE993500-7F8D-42D0-8EA5-4F4FF911F3F6}" type="sibTrans" cxnId="{3F19373B-6A9D-458E-ADEA-93CCFE3E6876}">
      <dgm:prSet/>
      <dgm:spPr/>
      <dgm:t>
        <a:bodyPr/>
        <a:lstStyle/>
        <a:p>
          <a:endParaRPr lang="en-US"/>
        </a:p>
      </dgm:t>
    </dgm:pt>
    <dgm:pt modelId="{BEFD2026-E3B1-495C-BFE7-C18AFADDB8D1}" type="pres">
      <dgm:prSet presAssocID="{5907835E-A310-4AE2-B20D-215C69C983D7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099621B-9126-44CE-A20B-E3E0DAD3BEAD}" type="pres">
      <dgm:prSet presAssocID="{F6EFF303-8B0E-4806-9D72-5108A252096E}" presName="centerShape" presStyleLbl="node0" presStyleIdx="0" presStyleCnt="1"/>
      <dgm:spPr/>
      <dgm:t>
        <a:bodyPr/>
        <a:lstStyle/>
        <a:p>
          <a:endParaRPr lang="en-US"/>
        </a:p>
      </dgm:t>
    </dgm:pt>
    <dgm:pt modelId="{67C24906-A99E-46C7-BB56-546B72F87A54}" type="pres">
      <dgm:prSet presAssocID="{CFA2826F-6B97-4514-A68E-A95EC0DD2E39}" presName="parTrans" presStyleLbl="bgSibTrans2D1" presStyleIdx="0" presStyleCnt="3"/>
      <dgm:spPr/>
      <dgm:t>
        <a:bodyPr/>
        <a:lstStyle/>
        <a:p>
          <a:endParaRPr lang="en-US"/>
        </a:p>
      </dgm:t>
    </dgm:pt>
    <dgm:pt modelId="{0FD589B2-761A-4551-BB47-3F0098D29481}" type="pres">
      <dgm:prSet presAssocID="{A8E72BD4-BB25-4067-884E-CFA402B97619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F693C1-4098-4379-B719-682BEEE93F0B}" type="pres">
      <dgm:prSet presAssocID="{A5D3FA43-BA28-4E54-BB71-EA3B1E3006D9}" presName="parTrans" presStyleLbl="bgSibTrans2D1" presStyleIdx="1" presStyleCnt="3"/>
      <dgm:spPr/>
      <dgm:t>
        <a:bodyPr/>
        <a:lstStyle/>
        <a:p>
          <a:endParaRPr lang="en-US"/>
        </a:p>
      </dgm:t>
    </dgm:pt>
    <dgm:pt modelId="{51E0A890-B25B-48F7-8C69-E676B2C822EB}" type="pres">
      <dgm:prSet presAssocID="{6F75733E-7EDB-4975-9AB6-3A0519EE193B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6CEC9A-8137-4190-A447-302054F82EF8}" type="pres">
      <dgm:prSet presAssocID="{B92E123F-D3D2-43DA-AA3C-C3AE9B4D7AA2}" presName="parTrans" presStyleLbl="bgSibTrans2D1" presStyleIdx="2" presStyleCnt="3"/>
      <dgm:spPr/>
      <dgm:t>
        <a:bodyPr/>
        <a:lstStyle/>
        <a:p>
          <a:endParaRPr lang="en-US"/>
        </a:p>
      </dgm:t>
    </dgm:pt>
    <dgm:pt modelId="{5181A059-DA9F-4D8D-9788-2F5631ACDBF2}" type="pres">
      <dgm:prSet presAssocID="{6AE8C974-B11B-455A-8D17-900C56E6A295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987F0D5-2ABC-4E6B-BF70-37DBA6560643}" type="presOf" srcId="{F6EFF303-8B0E-4806-9D72-5108A252096E}" destId="{F099621B-9126-44CE-A20B-E3E0DAD3BEAD}" srcOrd="0" destOrd="0" presId="urn:microsoft.com/office/officeart/2005/8/layout/radial4"/>
    <dgm:cxn modelId="{DCF6DDBC-E03E-498E-A963-15942A675EDE}" type="presOf" srcId="{B92E123F-D3D2-43DA-AA3C-C3AE9B4D7AA2}" destId="{FF6CEC9A-8137-4190-A447-302054F82EF8}" srcOrd="0" destOrd="0" presId="urn:microsoft.com/office/officeart/2005/8/layout/radial4"/>
    <dgm:cxn modelId="{AB6490F0-31A2-41D9-BC27-F84D81627F56}" srcId="{5907835E-A310-4AE2-B20D-215C69C983D7}" destId="{F6EFF303-8B0E-4806-9D72-5108A252096E}" srcOrd="0" destOrd="0" parTransId="{FB91CFE3-73AC-4E0B-BC4C-CF2215C0FEDF}" sibTransId="{FE6A02A4-E32C-4AEF-B260-E2706F0739AB}"/>
    <dgm:cxn modelId="{3F19373B-6A9D-458E-ADEA-93CCFE3E6876}" srcId="{F6EFF303-8B0E-4806-9D72-5108A252096E}" destId="{6AE8C974-B11B-455A-8D17-900C56E6A295}" srcOrd="2" destOrd="0" parTransId="{B92E123F-D3D2-43DA-AA3C-C3AE9B4D7AA2}" sibTransId="{BE993500-7F8D-42D0-8EA5-4F4FF911F3F6}"/>
    <dgm:cxn modelId="{4E4A244D-C145-43A0-8B1F-4EA8210F0E54}" srcId="{F6EFF303-8B0E-4806-9D72-5108A252096E}" destId="{6F75733E-7EDB-4975-9AB6-3A0519EE193B}" srcOrd="1" destOrd="0" parTransId="{A5D3FA43-BA28-4E54-BB71-EA3B1E3006D9}" sibTransId="{243B5C6D-E21C-4229-B88E-718A46842FFD}"/>
    <dgm:cxn modelId="{03887F38-9302-4971-8DF4-9059F70A44AB}" type="presOf" srcId="{A8E72BD4-BB25-4067-884E-CFA402B97619}" destId="{0FD589B2-761A-4551-BB47-3F0098D29481}" srcOrd="0" destOrd="0" presId="urn:microsoft.com/office/officeart/2005/8/layout/radial4"/>
    <dgm:cxn modelId="{CBCC8BD1-76FF-4741-BC11-63C7B3BEE954}" type="presOf" srcId="{5907835E-A310-4AE2-B20D-215C69C983D7}" destId="{BEFD2026-E3B1-495C-BFE7-C18AFADDB8D1}" srcOrd="0" destOrd="0" presId="urn:microsoft.com/office/officeart/2005/8/layout/radial4"/>
    <dgm:cxn modelId="{E217B930-0C6C-4938-B024-671361220A19}" type="presOf" srcId="{6F75733E-7EDB-4975-9AB6-3A0519EE193B}" destId="{51E0A890-B25B-48F7-8C69-E676B2C822EB}" srcOrd="0" destOrd="0" presId="urn:microsoft.com/office/officeart/2005/8/layout/radial4"/>
    <dgm:cxn modelId="{27CDC95C-B8C2-4FDD-996F-8A495713A6B9}" type="presOf" srcId="{6AE8C974-B11B-455A-8D17-900C56E6A295}" destId="{5181A059-DA9F-4D8D-9788-2F5631ACDBF2}" srcOrd="0" destOrd="0" presId="urn:microsoft.com/office/officeart/2005/8/layout/radial4"/>
    <dgm:cxn modelId="{BCD55A82-426F-4030-907B-6C9400F86DCD}" type="presOf" srcId="{CFA2826F-6B97-4514-A68E-A95EC0DD2E39}" destId="{67C24906-A99E-46C7-BB56-546B72F87A54}" srcOrd="0" destOrd="0" presId="urn:microsoft.com/office/officeart/2005/8/layout/radial4"/>
    <dgm:cxn modelId="{F8674411-FC0F-4BE6-9A95-9FBF4B8BE66C}" srcId="{F6EFF303-8B0E-4806-9D72-5108A252096E}" destId="{A8E72BD4-BB25-4067-884E-CFA402B97619}" srcOrd="0" destOrd="0" parTransId="{CFA2826F-6B97-4514-A68E-A95EC0DD2E39}" sibTransId="{054A08AD-EFC6-431C-9F38-C19717A3F1D0}"/>
    <dgm:cxn modelId="{7741DC59-2075-4BD2-B855-F0C5D9B39F39}" type="presOf" srcId="{A5D3FA43-BA28-4E54-BB71-EA3B1E3006D9}" destId="{B1F693C1-4098-4379-B719-682BEEE93F0B}" srcOrd="0" destOrd="0" presId="urn:microsoft.com/office/officeart/2005/8/layout/radial4"/>
    <dgm:cxn modelId="{184398CE-8393-4C99-BC53-C1D07DE5A833}" type="presParOf" srcId="{BEFD2026-E3B1-495C-BFE7-C18AFADDB8D1}" destId="{F099621B-9126-44CE-A20B-E3E0DAD3BEAD}" srcOrd="0" destOrd="0" presId="urn:microsoft.com/office/officeart/2005/8/layout/radial4"/>
    <dgm:cxn modelId="{4B6ADD51-C837-48D5-BD69-4E2E504AFF82}" type="presParOf" srcId="{BEFD2026-E3B1-495C-BFE7-C18AFADDB8D1}" destId="{67C24906-A99E-46C7-BB56-546B72F87A54}" srcOrd="1" destOrd="0" presId="urn:microsoft.com/office/officeart/2005/8/layout/radial4"/>
    <dgm:cxn modelId="{DF14BBDE-305D-4362-B220-33DCBF38250A}" type="presParOf" srcId="{BEFD2026-E3B1-495C-BFE7-C18AFADDB8D1}" destId="{0FD589B2-761A-4551-BB47-3F0098D29481}" srcOrd="2" destOrd="0" presId="urn:microsoft.com/office/officeart/2005/8/layout/radial4"/>
    <dgm:cxn modelId="{2EB66073-8488-4F89-8759-8BFA8AC3F01D}" type="presParOf" srcId="{BEFD2026-E3B1-495C-BFE7-C18AFADDB8D1}" destId="{B1F693C1-4098-4379-B719-682BEEE93F0B}" srcOrd="3" destOrd="0" presId="urn:microsoft.com/office/officeart/2005/8/layout/radial4"/>
    <dgm:cxn modelId="{94C498C6-BA9C-4F34-94F4-C68C4CA3C554}" type="presParOf" srcId="{BEFD2026-E3B1-495C-BFE7-C18AFADDB8D1}" destId="{51E0A890-B25B-48F7-8C69-E676B2C822EB}" srcOrd="4" destOrd="0" presId="urn:microsoft.com/office/officeart/2005/8/layout/radial4"/>
    <dgm:cxn modelId="{78A632BE-C464-4D69-9F31-FC34A606002A}" type="presParOf" srcId="{BEFD2026-E3B1-495C-BFE7-C18AFADDB8D1}" destId="{FF6CEC9A-8137-4190-A447-302054F82EF8}" srcOrd="5" destOrd="0" presId="urn:microsoft.com/office/officeart/2005/8/layout/radial4"/>
    <dgm:cxn modelId="{4900787D-CFAD-42C6-A8A2-570AD53AAF69}" type="presParOf" srcId="{BEFD2026-E3B1-495C-BFE7-C18AFADDB8D1}" destId="{5181A059-DA9F-4D8D-9788-2F5631ACDBF2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99621B-9126-44CE-A20B-E3E0DAD3BEAD}">
      <dsp:nvSpPr>
        <dsp:cNvPr id="0" name=""/>
        <dsp:cNvSpPr/>
      </dsp:nvSpPr>
      <dsp:spPr>
        <a:xfrm>
          <a:off x="2950388" y="2364822"/>
          <a:ext cx="1985923" cy="198592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/>
            <a:t>SISTEM JARINGAN KOMPUTER</a:t>
          </a:r>
        </a:p>
      </dsp:txBody>
      <dsp:txXfrm>
        <a:off x="3241220" y="2655654"/>
        <a:ext cx="1404259" cy="1404259"/>
      </dsp:txXfrm>
    </dsp:sp>
    <dsp:sp modelId="{67C24906-A99E-46C7-BB56-546B72F87A54}">
      <dsp:nvSpPr>
        <dsp:cNvPr id="0" name=""/>
        <dsp:cNvSpPr/>
      </dsp:nvSpPr>
      <dsp:spPr>
        <a:xfrm rot="12900000">
          <a:off x="1673933" y="2018253"/>
          <a:ext cx="1521052" cy="56598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z="-152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D589B2-761A-4551-BB47-3F0098D29481}">
      <dsp:nvSpPr>
        <dsp:cNvPr id="0" name=""/>
        <dsp:cNvSpPr/>
      </dsp:nvSpPr>
      <dsp:spPr>
        <a:xfrm>
          <a:off x="868159" y="1110376"/>
          <a:ext cx="1886627" cy="15093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ADMINISTRATOR</a:t>
          </a:r>
        </a:p>
      </dsp:txBody>
      <dsp:txXfrm>
        <a:off x="912365" y="1154582"/>
        <a:ext cx="1798215" cy="1420889"/>
      </dsp:txXfrm>
    </dsp:sp>
    <dsp:sp modelId="{B1F693C1-4098-4379-B719-682BEEE93F0B}">
      <dsp:nvSpPr>
        <dsp:cNvPr id="0" name=""/>
        <dsp:cNvSpPr/>
      </dsp:nvSpPr>
      <dsp:spPr>
        <a:xfrm rot="16200000">
          <a:off x="3182823" y="1232775"/>
          <a:ext cx="1521052" cy="56598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  <a:sp3d z="-152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E0A890-B25B-48F7-8C69-E676B2C822EB}">
      <dsp:nvSpPr>
        <dsp:cNvPr id="0" name=""/>
        <dsp:cNvSpPr/>
      </dsp:nvSpPr>
      <dsp:spPr>
        <a:xfrm>
          <a:off x="3000036" y="592"/>
          <a:ext cx="1886627" cy="1509301"/>
        </a:xfrm>
        <a:prstGeom prst="roundRect">
          <a:avLst>
            <a:gd name="adj" fmla="val 1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USER</a:t>
          </a:r>
        </a:p>
      </dsp:txBody>
      <dsp:txXfrm>
        <a:off x="3044242" y="44798"/>
        <a:ext cx="1798215" cy="1420889"/>
      </dsp:txXfrm>
    </dsp:sp>
    <dsp:sp modelId="{FF6CEC9A-8137-4190-A447-302054F82EF8}">
      <dsp:nvSpPr>
        <dsp:cNvPr id="0" name=""/>
        <dsp:cNvSpPr/>
      </dsp:nvSpPr>
      <dsp:spPr>
        <a:xfrm rot="19500000">
          <a:off x="4691713" y="2018253"/>
          <a:ext cx="1521052" cy="56598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  <a:sp3d z="-152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81A059-DA9F-4D8D-9788-2F5631ACDBF2}">
      <dsp:nvSpPr>
        <dsp:cNvPr id="0" name=""/>
        <dsp:cNvSpPr/>
      </dsp:nvSpPr>
      <dsp:spPr>
        <a:xfrm>
          <a:off x="5131913" y="1110376"/>
          <a:ext cx="1886627" cy="1509301"/>
        </a:xfrm>
        <a:prstGeom prst="roundRect">
          <a:avLst>
            <a:gd name="adj" fmla="val 1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SERVICE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(LAYANAN)</a:t>
          </a:r>
        </a:p>
      </dsp:txBody>
      <dsp:txXfrm>
        <a:off x="5176119" y="1154582"/>
        <a:ext cx="1798215" cy="14208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AD89A-DE75-490E-B3B8-DA645685EB5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2648F-4152-4278-B136-F77E8E2B3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2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https://docs.openstack.org/liberty/install-guide-rdo/overview.html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9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0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7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2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8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0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4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2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4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0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891" y="0"/>
            <a:ext cx="5305425" cy="338137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70421" y="1795824"/>
            <a:ext cx="4804363" cy="1929688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4000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4000" dirty="0" smtClean="0">
                  <a:solidFill>
                    <a:srgbClr val="00B0F0"/>
                  </a:solidFill>
                </a:rPr>
                <a:t>Vision</a:t>
              </a:r>
              <a:endParaRPr lang="en-US" sz="4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8911525" y="5781051"/>
            <a:ext cx="34850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27402" y="5596385"/>
            <a:ext cx="216459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https://github.com/siagianp</a:t>
            </a:r>
          </a:p>
        </p:txBody>
      </p:sp>
      <p:sp>
        <p:nvSpPr>
          <p:cNvPr id="2" name="Rectangle 1"/>
          <p:cNvSpPr/>
          <p:nvPr/>
        </p:nvSpPr>
        <p:spPr>
          <a:xfrm>
            <a:off x="7609668" y="5965717"/>
            <a:ext cx="48895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</a:t>
            </a:r>
            <a:r>
              <a:rPr lang="en-US" sz="1200" dirty="0" smtClean="0"/>
              <a:t>://github.com/amelcharolinesgn2/IoT_simulator-mqtt-NodeRed</a:t>
            </a:r>
            <a:endParaRPr lang="en-US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743" y="2639596"/>
            <a:ext cx="446086" cy="6358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363" y="2655435"/>
            <a:ext cx="613391" cy="5827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45" y="2639596"/>
            <a:ext cx="599662" cy="577554"/>
          </a:xfrm>
          <a:prstGeom prst="rect">
            <a:avLst/>
          </a:prstGeom>
        </p:spPr>
      </p:pic>
      <p:sp>
        <p:nvSpPr>
          <p:cNvPr id="26" name="Subtitle 2"/>
          <p:cNvSpPr txBox="1">
            <a:spLocks/>
          </p:cNvSpPr>
          <p:nvPr/>
        </p:nvSpPr>
        <p:spPr>
          <a:xfrm>
            <a:off x="3138827" y="3783967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b="1" dirty="0" smtClean="0">
                <a:solidFill>
                  <a:srgbClr val="002060"/>
                </a:solidFill>
              </a:rPr>
              <a:t>Network Topology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2221058" y="3865316"/>
            <a:ext cx="8567391" cy="6707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2" algn="just"/>
            <a:r>
              <a:rPr lang="en-US" sz="3200" dirty="0" smtClean="0">
                <a:solidFill>
                  <a:srgbClr val="00B0F0"/>
                </a:solidFill>
              </a:rPr>
              <a:t>Network Topology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03920" y="6150383"/>
            <a:ext cx="39880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https://github.com/amelcharolinesgn2/Cloud-Infrastructures</a:t>
            </a:r>
          </a:p>
        </p:txBody>
      </p:sp>
    </p:spTree>
    <p:extLst>
      <p:ext uri="{BB962C8B-B14F-4D97-AF65-F5344CB8AC3E}">
        <p14:creationId xmlns:p14="http://schemas.microsoft.com/office/powerpoint/2010/main" val="111495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1690688"/>
            <a:ext cx="805815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3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082" y="1482868"/>
            <a:ext cx="5884718" cy="512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7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97419">
            <a:off x="7399897" y="5277130"/>
            <a:ext cx="1953498" cy="13137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Topology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41" y="1690688"/>
            <a:ext cx="6924243" cy="38256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934979">
            <a:off x="9369656" y="5459641"/>
            <a:ext cx="1643814" cy="1219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2745" y="5695574"/>
            <a:ext cx="1309255" cy="8919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925" y="3284625"/>
            <a:ext cx="334327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91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78834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Server ?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43552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C000"/>
                </a:solidFill>
              </a:rPr>
              <a:t>Client ?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2673" y="2542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Distribusi</a:t>
            </a:r>
            <a:r>
              <a:rPr lang="en-US" dirty="0" smtClean="0"/>
              <a:t> Packet Data ????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81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251" y="2144228"/>
            <a:ext cx="5432007" cy="412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7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Administrasi</a:t>
            </a:r>
            <a:r>
              <a:rPr lang="en-US" dirty="0" smtClean="0"/>
              <a:t> </a:t>
            </a:r>
            <a:r>
              <a:rPr lang="en-US" dirty="0" err="1" smtClean="0"/>
              <a:t>Jaringan</a:t>
            </a:r>
            <a:r>
              <a:rPr lang="en-US" dirty="0" smtClean="0"/>
              <a:t> </a:t>
            </a:r>
            <a:r>
              <a:rPr lang="en-US" dirty="0" err="1" smtClean="0"/>
              <a:t>Komputer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18816" y="1506022"/>
            <a:ext cx="1940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Managing Devices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219" y="2158109"/>
            <a:ext cx="4895512" cy="35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2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 Hardware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813" y="2290421"/>
            <a:ext cx="6657975" cy="382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8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B6DF9-0E2C-4774-956F-E3867CDDA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KOMPONEN SISTEM JARINGAN KOMPUTER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CC5439-2DF1-4EE8-832E-EABA1B913BFF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152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92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D1B0F-DF75-4A0F-A2D9-5AA17C26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ADMINISTRATOR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3237-8C56-4BD1-AA95-B668D1ECB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Seseorang</a:t>
            </a:r>
            <a:r>
              <a:rPr lang="en-US" dirty="0"/>
              <a:t> yang </a:t>
            </a:r>
            <a:r>
              <a:rPr lang="en-US" dirty="0" err="1"/>
              <a:t>bertugas</a:t>
            </a:r>
            <a:r>
              <a:rPr lang="en-US" dirty="0"/>
              <a:t> </a:t>
            </a:r>
            <a:r>
              <a:rPr lang="en-US" dirty="0" err="1"/>
              <a:t>menginstall</a:t>
            </a:r>
            <a:r>
              <a:rPr lang="en-US" dirty="0"/>
              <a:t>, </a:t>
            </a:r>
            <a:r>
              <a:rPr lang="en-US" dirty="0" err="1"/>
              <a:t>mengkonfigurasi</a:t>
            </a:r>
            <a:r>
              <a:rPr lang="en-US" dirty="0"/>
              <a:t>, dan </a:t>
            </a:r>
            <a:r>
              <a:rPr lang="en-US" dirty="0" err="1"/>
              <a:t>mendukung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lingkup</a:t>
            </a:r>
            <a:r>
              <a:rPr lang="en-US" dirty="0"/>
              <a:t> Local Area Network (LAN), Wide Area Network (WAN), dan </a:t>
            </a:r>
            <a:r>
              <a:rPr lang="en-US" dirty="0" err="1"/>
              <a:t>sistem</a:t>
            </a:r>
            <a:r>
              <a:rPr lang="en-US" dirty="0"/>
              <a:t> Internet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segmen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. </a:t>
            </a:r>
          </a:p>
          <a:p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memantau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memastikan</a:t>
            </a:r>
            <a:r>
              <a:rPr lang="en-US" dirty="0"/>
              <a:t> </a:t>
            </a:r>
            <a:r>
              <a:rPr lang="en-US" dirty="0" err="1"/>
              <a:t>ketersediaan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dan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pemeliharaan</a:t>
            </a:r>
            <a:r>
              <a:rPr lang="en-US" dirty="0"/>
              <a:t> yang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mendukung</a:t>
            </a:r>
            <a:r>
              <a:rPr lang="en-US" dirty="0"/>
              <a:t> </a:t>
            </a:r>
            <a:r>
              <a:rPr lang="en-US" dirty="0" err="1"/>
              <a:t>ketersediaan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824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F19D-63E8-4EC8-852C-FEFD5CE4D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950" y="764373"/>
            <a:ext cx="7806690" cy="635802"/>
          </a:xfrm>
        </p:spPr>
        <p:txBody>
          <a:bodyPr>
            <a:normAutofit/>
          </a:bodyPr>
          <a:lstStyle/>
          <a:p>
            <a:r>
              <a:rPr lang="en-US" sz="3200" b="1" dirty="0"/>
              <a:t>LAYANAN JARINGAN KOMPUTER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4E7EA-FAED-4126-941B-7C69E67D9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8360" y="1400176"/>
            <a:ext cx="7955280" cy="4863465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?</a:t>
            </a:r>
          </a:p>
          <a:p>
            <a:pPr lvl="1"/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endParaRPr lang="en-US" dirty="0"/>
          </a:p>
          <a:p>
            <a:pPr lvl="2"/>
            <a:r>
              <a:rPr lang="en-US" b="1" i="1" dirty="0"/>
              <a:t>IP, Routing, Domain Name System</a:t>
            </a:r>
          </a:p>
          <a:p>
            <a:pPr lvl="1"/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digital</a:t>
            </a:r>
          </a:p>
          <a:p>
            <a:pPr lvl="2"/>
            <a:r>
              <a:rPr lang="en-US" b="1" i="1" dirty="0"/>
              <a:t>Web, video streaming, voice over internet, </a:t>
            </a:r>
            <a:r>
              <a:rPr lang="en-US" b="1" i="1" dirty="0" err="1"/>
              <a:t>etc</a:t>
            </a:r>
            <a:r>
              <a:rPr lang="en-US" b="1" i="1" dirty="0"/>
              <a:t>?</a:t>
            </a:r>
          </a:p>
          <a:p>
            <a:pPr lvl="1"/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tukar-menukar</a:t>
            </a:r>
            <a:r>
              <a:rPr lang="en-US" dirty="0"/>
              <a:t> data</a:t>
            </a:r>
          </a:p>
          <a:p>
            <a:pPr lvl="2"/>
            <a:r>
              <a:rPr lang="en-US" b="1" i="1" dirty="0"/>
              <a:t>FTP, file sharing, file hosting</a:t>
            </a:r>
          </a:p>
          <a:p>
            <a:pPr lvl="1"/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surat</a:t>
            </a:r>
            <a:r>
              <a:rPr lang="en-US" dirty="0"/>
              <a:t> </a:t>
            </a:r>
            <a:r>
              <a:rPr lang="en-US" dirty="0" err="1"/>
              <a:t>elektronis</a:t>
            </a:r>
            <a:endParaRPr lang="en-US" dirty="0"/>
          </a:p>
          <a:p>
            <a:pPr lvl="2"/>
            <a:r>
              <a:rPr lang="en-US" b="1" i="1" dirty="0"/>
              <a:t>Mail server, webmail interface</a:t>
            </a:r>
          </a:p>
          <a:p>
            <a:pPr lvl="1"/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virtual (cloud computing)</a:t>
            </a:r>
          </a:p>
          <a:p>
            <a:pPr lvl="2"/>
            <a:r>
              <a:rPr lang="en-US" b="1" i="1" dirty="0"/>
              <a:t>AWS, Google Cloud Platform, </a:t>
            </a:r>
            <a:r>
              <a:rPr lang="en-US" b="1" i="1" dirty="0" err="1"/>
              <a:t>etc</a:t>
            </a:r>
            <a:endParaRPr lang="en-US" b="1" i="1" dirty="0"/>
          </a:p>
          <a:p>
            <a:pPr lvl="1"/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kualitas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(</a:t>
            </a:r>
            <a:r>
              <a:rPr lang="en-US" b="1" i="1" dirty="0"/>
              <a:t>Quality of Services</a:t>
            </a:r>
            <a:r>
              <a:rPr lang="en-US" dirty="0"/>
              <a:t>)</a:t>
            </a:r>
          </a:p>
          <a:p>
            <a:pPr lvl="2"/>
            <a:r>
              <a:rPr lang="en-US" b="1" i="1" dirty="0"/>
              <a:t>Throughput, Latency, Response Time, Bandwidth management</a:t>
            </a:r>
          </a:p>
          <a:p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oleh “user”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sehari-hari</a:t>
            </a:r>
            <a:endParaRPr lang="en-US" dirty="0"/>
          </a:p>
          <a:p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diinstall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yang </a:t>
            </a:r>
            <a:r>
              <a:rPr lang="en-US" dirty="0" err="1"/>
              <a:t>berjalan</a:t>
            </a:r>
            <a:r>
              <a:rPr lang="en-US" dirty="0"/>
              <a:t> pada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yang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kompleks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62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D1506-41AD-4261-925B-FA8CEEA08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62939-4309-4564-B938-51FF9BECA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Pengguna</a:t>
            </a:r>
            <a:r>
              <a:rPr lang="en-US" dirty="0"/>
              <a:t> yang </a:t>
            </a:r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jaringan</a:t>
            </a:r>
            <a:endParaRPr lang="en-US" dirty="0"/>
          </a:p>
          <a:p>
            <a:r>
              <a:rPr lang="en-US" dirty="0"/>
              <a:t>User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pemilik</a:t>
            </a:r>
            <a:r>
              <a:rPr lang="en-US" dirty="0"/>
              <a:t> </a:t>
            </a:r>
            <a:r>
              <a:rPr lang="en-US" dirty="0" err="1"/>
              <a:t>ataupun</a:t>
            </a:r>
            <a:r>
              <a:rPr lang="en-US" dirty="0"/>
              <a:t> </a:t>
            </a:r>
            <a:r>
              <a:rPr lang="en-US" dirty="0" err="1"/>
              <a:t>penyewa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jaringan</a:t>
            </a:r>
            <a:endParaRPr lang="en-US" dirty="0"/>
          </a:p>
          <a:p>
            <a:pPr lvl="1"/>
            <a:r>
              <a:rPr lang="en-US" dirty="0" err="1"/>
              <a:t>Pemilik</a:t>
            </a:r>
            <a:endParaRPr lang="en-US" dirty="0"/>
          </a:p>
          <a:p>
            <a:pPr lvl="2"/>
            <a:r>
              <a:rPr lang="en-US" dirty="0"/>
              <a:t>Orang/</a:t>
            </a:r>
            <a:r>
              <a:rPr lang="en-US" dirty="0" err="1"/>
              <a:t>organisasi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, 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teknologi-teknologi</a:t>
            </a:r>
            <a:r>
              <a:rPr lang="en-US" dirty="0"/>
              <a:t> </a:t>
            </a:r>
            <a:r>
              <a:rPr lang="en-US" dirty="0" err="1"/>
              <a:t>penunjang</a:t>
            </a:r>
            <a:endParaRPr lang="en-US" dirty="0"/>
          </a:p>
          <a:p>
            <a:pPr lvl="3"/>
            <a:r>
              <a:rPr lang="en-US" dirty="0" err="1"/>
              <a:t>Contoh</a:t>
            </a:r>
            <a:r>
              <a:rPr lang="en-US" dirty="0"/>
              <a:t> : </a:t>
            </a:r>
            <a:r>
              <a:rPr lang="en-US" dirty="0" err="1"/>
              <a:t>Universitas</a:t>
            </a:r>
            <a:r>
              <a:rPr lang="en-US" dirty="0"/>
              <a:t> dan </a:t>
            </a:r>
            <a:r>
              <a:rPr lang="en-US" dirty="0" err="1"/>
              <a:t>sekolah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akademik</a:t>
            </a:r>
            <a:r>
              <a:rPr lang="en-US" dirty="0"/>
              <a:t>, </a:t>
            </a:r>
            <a:r>
              <a:rPr lang="en-US" dirty="0" err="1"/>
              <a:t>perusahaan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ERP (enterprise resource plan), </a:t>
            </a:r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Kesehatan, dan lain-lain</a:t>
            </a:r>
          </a:p>
          <a:p>
            <a:pPr lvl="1"/>
            <a:r>
              <a:rPr lang="en-US" dirty="0" err="1"/>
              <a:t>Penyewa</a:t>
            </a:r>
            <a:endParaRPr lang="en-US" dirty="0"/>
          </a:p>
          <a:p>
            <a:pPr lvl="2"/>
            <a:r>
              <a:rPr lang="en-US" dirty="0"/>
              <a:t>Orang yang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web hosting, email, browsing internet, dan lain-lain.</a:t>
            </a:r>
          </a:p>
        </p:txBody>
      </p:sp>
    </p:spTree>
    <p:extLst>
      <p:ext uri="{BB962C8B-B14F-4D97-AF65-F5344CB8AC3E}">
        <p14:creationId xmlns:p14="http://schemas.microsoft.com/office/powerpoint/2010/main" val="79085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D52A-E0FF-4E9C-A0A8-43BFA8EC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</a:t>
            </a:r>
            <a:r>
              <a:rPr lang="en-US" b="1" dirty="0" err="1"/>
              <a:t>infrastruktur</a:t>
            </a:r>
            <a:r>
              <a:rPr lang="en-US" b="1" dirty="0"/>
              <a:t> </a:t>
            </a:r>
            <a:r>
              <a:rPr lang="en-US" b="1" dirty="0" err="1"/>
              <a:t>jaringan</a:t>
            </a:r>
            <a:r>
              <a:rPr lang="en-US" b="1" dirty="0"/>
              <a:t> </a:t>
            </a:r>
            <a:r>
              <a:rPr lang="en-US" b="1" dirty="0" err="1"/>
              <a:t>komputer</a:t>
            </a:r>
            <a:endParaRPr lang="en-US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81326A-3EAD-4A45-B9FF-5806EB27F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unmanaged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518B04-7A38-4606-B766-3B1F7D9021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904D8A-428E-475D-91B7-8FFFE0F38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managed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F285DA-C7AC-465B-8668-8C7644ED697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8B577F5-1CD4-40AB-B727-5CD304B90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3134882"/>
            <a:ext cx="4501903" cy="2989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4E9B6D7B-34D4-497B-A0DB-EDAFD37DE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1" y="3115805"/>
            <a:ext cx="4404611" cy="30384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08CA3F-1F79-4071-873F-810DD349F432}"/>
              </a:ext>
            </a:extLst>
          </p:cNvPr>
          <p:cNvSpPr txBox="1"/>
          <p:nvPr/>
        </p:nvSpPr>
        <p:spPr>
          <a:xfrm>
            <a:off x="1846584" y="6279232"/>
            <a:ext cx="8421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Berikan</a:t>
            </a:r>
            <a:r>
              <a:rPr lang="en-US" b="1" dirty="0"/>
              <a:t> </a:t>
            </a:r>
            <a:r>
              <a:rPr lang="en-US" b="1" dirty="0" err="1"/>
              <a:t>komentarmu</a:t>
            </a:r>
            <a:r>
              <a:rPr lang="en-US" b="1" dirty="0"/>
              <a:t> </a:t>
            </a:r>
            <a:r>
              <a:rPr lang="en-US" b="1" dirty="0" err="1"/>
              <a:t>terhadap</a:t>
            </a:r>
            <a:r>
              <a:rPr lang="en-US" b="1" dirty="0"/>
              <a:t> 2 </a:t>
            </a:r>
            <a:r>
              <a:rPr lang="en-US" b="1" dirty="0" err="1"/>
              <a:t>topologi</a:t>
            </a:r>
            <a:r>
              <a:rPr lang="en-US" b="1" dirty="0"/>
              <a:t> </a:t>
            </a:r>
            <a:r>
              <a:rPr lang="en-US" b="1" dirty="0" err="1"/>
              <a:t>jaringan</a:t>
            </a:r>
            <a:r>
              <a:rPr lang="en-US" b="1" dirty="0"/>
              <a:t> </a:t>
            </a:r>
            <a:r>
              <a:rPr lang="en-US" b="1" dirty="0" err="1"/>
              <a:t>tersebut</a:t>
            </a:r>
            <a:r>
              <a:rPr lang="en-US" b="1" dirty="0"/>
              <a:t> !!!</a:t>
            </a:r>
          </a:p>
        </p:txBody>
      </p:sp>
    </p:spTree>
    <p:extLst>
      <p:ext uri="{BB962C8B-B14F-4D97-AF65-F5344CB8AC3E}">
        <p14:creationId xmlns:p14="http://schemas.microsoft.com/office/powerpoint/2010/main" val="155457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4523-EE9C-4EAF-BC1A-9BEC306E9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Contoh</a:t>
            </a:r>
            <a:r>
              <a:rPr lang="en-US" b="1" dirty="0"/>
              <a:t> 2 – </a:t>
            </a:r>
            <a:r>
              <a:rPr lang="en-US" b="1" dirty="0" err="1"/>
              <a:t>topologi</a:t>
            </a:r>
            <a:r>
              <a:rPr lang="en-US" b="1" dirty="0"/>
              <a:t> data center </a:t>
            </a:r>
            <a:r>
              <a:rPr lang="en-US" b="1" dirty="0" err="1"/>
              <a:t>instansi</a:t>
            </a:r>
            <a:r>
              <a:rPr lang="en-US" b="1" dirty="0"/>
              <a:t> </a:t>
            </a:r>
            <a:r>
              <a:rPr lang="en-US" b="1" dirty="0" err="1"/>
              <a:t>pendidikan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C45DA-F078-4C5F-9F2E-76CAE82D8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konvensional</a:t>
            </a:r>
            <a:endParaRPr lang="en-US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3D410F-0D92-4287-943C-B79713CEE0C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279" y="3132668"/>
            <a:ext cx="3398340" cy="313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FBA7F5-5740-4875-8C38-191665C1BF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Private cloud IAAS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57289-B35A-4E6A-B425-DA011AE6ED7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F9F4686-97B8-4B41-B0E3-273455EBC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038" y="3132667"/>
            <a:ext cx="4101671" cy="3130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FB4519-1C52-4F88-B4C7-255A751F3A66}"/>
              </a:ext>
            </a:extLst>
          </p:cNvPr>
          <p:cNvSpPr txBox="1"/>
          <p:nvPr/>
        </p:nvSpPr>
        <p:spPr>
          <a:xfrm>
            <a:off x="1836354" y="6388592"/>
            <a:ext cx="8421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Berikan</a:t>
            </a:r>
            <a:r>
              <a:rPr lang="en-US" b="1" dirty="0"/>
              <a:t> </a:t>
            </a:r>
            <a:r>
              <a:rPr lang="en-US" b="1" dirty="0" err="1"/>
              <a:t>komentarmu</a:t>
            </a:r>
            <a:r>
              <a:rPr lang="en-US" b="1" dirty="0"/>
              <a:t> </a:t>
            </a:r>
            <a:r>
              <a:rPr lang="en-US" b="1" dirty="0" err="1"/>
              <a:t>terhadap</a:t>
            </a:r>
            <a:r>
              <a:rPr lang="en-US" b="1" dirty="0"/>
              <a:t> 2 </a:t>
            </a:r>
            <a:r>
              <a:rPr lang="en-US" b="1" dirty="0" err="1"/>
              <a:t>topologi</a:t>
            </a:r>
            <a:r>
              <a:rPr lang="en-US" b="1" dirty="0"/>
              <a:t> </a:t>
            </a:r>
            <a:r>
              <a:rPr lang="en-US" b="1" dirty="0" err="1"/>
              <a:t>jaringan</a:t>
            </a:r>
            <a:r>
              <a:rPr lang="en-US" b="1" dirty="0"/>
              <a:t> </a:t>
            </a:r>
            <a:r>
              <a:rPr lang="en-US" b="1" dirty="0" err="1"/>
              <a:t>tersebut</a:t>
            </a:r>
            <a:r>
              <a:rPr lang="en-US" b="1" dirty="0"/>
              <a:t> !!!</a:t>
            </a:r>
          </a:p>
        </p:txBody>
      </p:sp>
    </p:spTree>
    <p:extLst>
      <p:ext uri="{BB962C8B-B14F-4D97-AF65-F5344CB8AC3E}">
        <p14:creationId xmlns:p14="http://schemas.microsoft.com/office/powerpoint/2010/main" val="89489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34415E9-34EB-46AB-BC5D-E2ED8981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Pertanyaan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AEF3C08-726F-4D63-8CE4-8A391BB54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Jadi </a:t>
            </a:r>
            <a:r>
              <a:rPr lang="en-US" b="1" dirty="0" err="1"/>
              <a:t>manajemen</a:t>
            </a:r>
            <a:r>
              <a:rPr lang="en-US" b="1" dirty="0"/>
              <a:t> </a:t>
            </a:r>
            <a:r>
              <a:rPr lang="en-US" b="1" dirty="0" err="1"/>
              <a:t>infrasturktur</a:t>
            </a:r>
            <a:r>
              <a:rPr lang="en-US" b="1" dirty="0"/>
              <a:t> </a:t>
            </a:r>
            <a:r>
              <a:rPr lang="en-US" b="1" dirty="0" err="1"/>
              <a:t>jaringan</a:t>
            </a:r>
            <a:r>
              <a:rPr lang="en-US" b="1" dirty="0"/>
              <a:t> </a:t>
            </a:r>
            <a:r>
              <a:rPr lang="en-US" b="1" dirty="0" err="1"/>
              <a:t>itu</a:t>
            </a:r>
            <a:r>
              <a:rPr lang="en-US" b="1" dirty="0"/>
              <a:t> </a:t>
            </a:r>
            <a:r>
              <a:rPr lang="en-US" b="1" dirty="0" err="1"/>
              <a:t>penting</a:t>
            </a:r>
            <a:r>
              <a:rPr lang="en-US" b="1" dirty="0"/>
              <a:t> </a:t>
            </a:r>
            <a:r>
              <a:rPr lang="en-US" b="1" dirty="0" err="1"/>
              <a:t>atau</a:t>
            </a:r>
            <a:r>
              <a:rPr lang="en-US" b="1" dirty="0"/>
              <a:t> </a:t>
            </a:r>
            <a:r>
              <a:rPr lang="en-US" b="1" dirty="0" err="1"/>
              <a:t>tidak</a:t>
            </a:r>
            <a:r>
              <a:rPr lang="en-US" b="1" dirty="0"/>
              <a:t> ?</a:t>
            </a:r>
          </a:p>
          <a:p>
            <a:r>
              <a:rPr lang="en-US" b="1" dirty="0" err="1"/>
              <a:t>Siapa</a:t>
            </a:r>
            <a:r>
              <a:rPr lang="en-US" b="1" dirty="0"/>
              <a:t> yang me-manage?</a:t>
            </a:r>
          </a:p>
          <a:p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saja</a:t>
            </a:r>
            <a:r>
              <a:rPr lang="en-US" b="1" dirty="0"/>
              <a:t> yang di-manage?</a:t>
            </a:r>
          </a:p>
          <a:p>
            <a:r>
              <a:rPr lang="en-US" b="1" dirty="0" err="1"/>
              <a:t>Bagaimana</a:t>
            </a:r>
            <a:r>
              <a:rPr lang="en-US" b="1" dirty="0"/>
              <a:t> </a:t>
            </a:r>
            <a:r>
              <a:rPr lang="en-US" b="1" dirty="0" err="1"/>
              <a:t>cara</a:t>
            </a:r>
            <a:r>
              <a:rPr lang="en-US" b="1" dirty="0"/>
              <a:t> me-manage?</a:t>
            </a:r>
          </a:p>
        </p:txBody>
      </p:sp>
    </p:spTree>
    <p:extLst>
      <p:ext uri="{BB962C8B-B14F-4D97-AF65-F5344CB8AC3E}">
        <p14:creationId xmlns:p14="http://schemas.microsoft.com/office/powerpoint/2010/main" val="394777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04BC-54FB-4E10-821F-32A53EECA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Who managed?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3E33C-CD50-4FFC-B0D2-FCBBDB2ED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Technician</a:t>
            </a:r>
          </a:p>
          <a:p>
            <a:r>
              <a:rPr lang="en-US" dirty="0"/>
              <a:t>Network Administrator</a:t>
            </a:r>
          </a:p>
          <a:p>
            <a:r>
              <a:rPr lang="en-US" dirty="0"/>
              <a:t>System Administrator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552" y="3472630"/>
            <a:ext cx="37338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19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1C862-1CA3-4204-960A-A81EB3264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Computer technician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64EA6-BDC5-4C83-836E-11A4E745D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“Desktop” support</a:t>
            </a:r>
          </a:p>
          <a:p>
            <a:pPr lvl="1"/>
            <a:r>
              <a:rPr lang="en-US" altLang="en-US" sz="1800" dirty="0"/>
              <a:t>Responsible for setting up and maintaining the users’ computers.</a:t>
            </a:r>
          </a:p>
          <a:p>
            <a:pPr lvl="1"/>
            <a:r>
              <a:rPr lang="en-US" altLang="en-US" sz="1800" dirty="0"/>
              <a:t>Putting the computers together.</a:t>
            </a:r>
          </a:p>
          <a:p>
            <a:pPr lvl="1"/>
            <a:r>
              <a:rPr lang="en-US" altLang="en-US" sz="1800" dirty="0"/>
              <a:t>Adding new hardware: RAM, CD-ROM drive, Monitor, etc.</a:t>
            </a:r>
          </a:p>
          <a:p>
            <a:pPr lvl="1"/>
            <a:r>
              <a:rPr lang="en-US" altLang="en-US" sz="1800" dirty="0"/>
              <a:t>Installing software</a:t>
            </a:r>
          </a:p>
          <a:p>
            <a:pPr lvl="1"/>
            <a:r>
              <a:rPr lang="en-US" altLang="en-US" sz="1800" dirty="0"/>
              <a:t>Setting up accounts, email, and access to servers</a:t>
            </a:r>
          </a:p>
          <a:p>
            <a:pPr lvl="1"/>
            <a:r>
              <a:rPr lang="en-US" altLang="en-US" sz="1800" dirty="0"/>
              <a:t>Troubleshooting</a:t>
            </a:r>
          </a:p>
          <a:p>
            <a:pPr lvl="1"/>
            <a:r>
              <a:rPr lang="en-US" altLang="en-US" sz="1800" b="1" i="1" dirty="0"/>
              <a:t>Helping users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FE20E43-2A8A-4BCC-A70A-ADCA52ECA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386264"/>
            <a:ext cx="2438400" cy="221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89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5B7B-208F-4E53-B2DB-61B2867D0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764373"/>
            <a:ext cx="7101840" cy="1293028"/>
          </a:xfrm>
        </p:spPr>
        <p:txBody>
          <a:bodyPr/>
          <a:lstStyle/>
          <a:p>
            <a:r>
              <a:rPr lang="en-US" b="1" dirty="0"/>
              <a:t>Network administrator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D31E-B40F-4F31-ABE1-75D9321F8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000" dirty="0"/>
              <a:t>Connecting the computers to the network.</a:t>
            </a:r>
          </a:p>
          <a:p>
            <a:r>
              <a:rPr lang="en-US" altLang="en-US" sz="2000" dirty="0"/>
              <a:t>Install, manage, troubleshoot network infrastructure:</a:t>
            </a:r>
          </a:p>
          <a:p>
            <a:pPr lvl="1"/>
            <a:r>
              <a:rPr lang="en-US" altLang="en-US" sz="1800" dirty="0"/>
              <a:t>Routers, Switches, Cables, Wireless Access Points</a:t>
            </a:r>
          </a:p>
          <a:p>
            <a:r>
              <a:rPr lang="en-US" altLang="en-US" sz="2000" dirty="0"/>
              <a:t>Issues: </a:t>
            </a:r>
          </a:p>
          <a:p>
            <a:pPr lvl="1"/>
            <a:r>
              <a:rPr lang="en-US" altLang="en-US" sz="1800" dirty="0"/>
              <a:t>Security</a:t>
            </a:r>
          </a:p>
          <a:p>
            <a:pPr lvl="1"/>
            <a:r>
              <a:rPr lang="en-US" altLang="en-US" sz="1800" dirty="0"/>
              <a:t>Quality of Service</a:t>
            </a:r>
          </a:p>
          <a:p>
            <a:pPr lvl="1"/>
            <a:r>
              <a:rPr lang="en-US" altLang="en-US" sz="1800" dirty="0"/>
              <a:t>Video On Demand</a:t>
            </a:r>
          </a:p>
          <a:p>
            <a:pPr lvl="1"/>
            <a:r>
              <a:rPr lang="en-US" altLang="en-US" sz="1800" dirty="0"/>
              <a:t>IP Telephony or Voice over IP</a:t>
            </a:r>
          </a:p>
          <a:p>
            <a:r>
              <a:rPr lang="en-US" altLang="en-US" sz="2000" dirty="0"/>
              <a:t>Setting up any wireless network access.</a:t>
            </a:r>
          </a:p>
          <a:p>
            <a:r>
              <a:rPr lang="en-US" altLang="en-US" sz="2000" dirty="0"/>
              <a:t>Configure the routers and switches.</a:t>
            </a:r>
          </a:p>
          <a:p>
            <a:pPr lvl="1"/>
            <a:r>
              <a:rPr lang="en-US" altLang="en-US" sz="1800" dirty="0"/>
              <a:t>Basic configurations</a:t>
            </a:r>
          </a:p>
          <a:p>
            <a:pPr lvl="1"/>
            <a:r>
              <a:rPr lang="en-US" altLang="en-US" sz="1800" dirty="0"/>
              <a:t>Security</a:t>
            </a:r>
          </a:p>
          <a:p>
            <a:pPr lvl="1"/>
            <a:r>
              <a:rPr lang="en-US" altLang="en-US" sz="1800" dirty="0"/>
              <a:t>Traffic flow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22F11038-AE4F-4623-9123-B4C10F942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3429000"/>
            <a:ext cx="2971800" cy="273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06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F08F-A057-4E7F-8ED1-96E2D73A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administrator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E5B-A504-4E76-BBF6-42F388F33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1800" dirty="0"/>
              <a:t>Maintaining the “</a:t>
            </a:r>
            <a:r>
              <a:rPr lang="en-US" altLang="en-US" sz="1800" b="1" dirty="0"/>
              <a:t>server farm</a:t>
            </a:r>
            <a:r>
              <a:rPr lang="en-US" altLang="en-US" sz="1800" dirty="0"/>
              <a:t>”, and </a:t>
            </a:r>
            <a:r>
              <a:rPr lang="en-US" altLang="en-US" sz="1800" b="1" dirty="0"/>
              <a:t>content delivery network</a:t>
            </a:r>
            <a:r>
              <a:rPr lang="en-US" altLang="en-US" sz="1800" dirty="0"/>
              <a:t>, the computers that store the software and data used by everyone.</a:t>
            </a:r>
          </a:p>
          <a:p>
            <a:r>
              <a:rPr lang="en-US" altLang="en-US" sz="1800" dirty="0"/>
              <a:t>Setting up usernames and passwords for controlling access to the network.</a:t>
            </a:r>
          </a:p>
          <a:p>
            <a:r>
              <a:rPr lang="en-US" altLang="en-US" sz="1800" dirty="0"/>
              <a:t>Setting up network services</a:t>
            </a:r>
          </a:p>
          <a:p>
            <a:r>
              <a:rPr lang="en-US" altLang="en-US" sz="1800" dirty="0"/>
              <a:t>Setting up and maintaining the servers that control Email.</a:t>
            </a:r>
          </a:p>
          <a:p>
            <a:r>
              <a:rPr lang="en-US" altLang="en-US" sz="1800" dirty="0"/>
              <a:t>Keep the computers secure from viruses and hackers.</a:t>
            </a:r>
          </a:p>
          <a:p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1592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39787-055A-4E8D-B389-F34FF28B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managed?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00563-0531-4FD8-B12D-A23B726B2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Jawablah</a:t>
            </a:r>
            <a:r>
              <a:rPr lang="en-US" b="1" dirty="0"/>
              <a:t> </a:t>
            </a:r>
            <a:r>
              <a:rPr lang="en-US" b="1" dirty="0" err="1"/>
              <a:t>pertanyaan-pertanyaan</a:t>
            </a:r>
            <a:r>
              <a:rPr lang="en-US" b="1" dirty="0"/>
              <a:t> </a:t>
            </a:r>
            <a:r>
              <a:rPr lang="en-US" b="1" dirty="0" err="1"/>
              <a:t>berikut</a:t>
            </a:r>
            <a:r>
              <a:rPr lang="en-US" b="1" dirty="0"/>
              <a:t> </a:t>
            </a:r>
            <a:r>
              <a:rPr lang="en-US" b="1" dirty="0" err="1"/>
              <a:t>ini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kritis</a:t>
            </a:r>
            <a:r>
              <a:rPr lang="en-US" b="1" dirty="0"/>
              <a:t> dan </a:t>
            </a:r>
            <a:r>
              <a:rPr lang="en-US" b="1" dirty="0" err="1"/>
              <a:t>teliti</a:t>
            </a:r>
            <a:r>
              <a:rPr lang="en-US" b="1" dirty="0"/>
              <a:t> :</a:t>
            </a:r>
          </a:p>
          <a:p>
            <a:r>
              <a:rPr lang="en-US" dirty="0"/>
              <a:t>Network Services</a:t>
            </a:r>
          </a:p>
          <a:p>
            <a:pPr lvl="1"/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user?</a:t>
            </a:r>
          </a:p>
          <a:p>
            <a:r>
              <a:rPr lang="en-US" dirty="0"/>
              <a:t>Security</a:t>
            </a:r>
          </a:p>
          <a:p>
            <a:pPr lvl="1"/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aspek</a:t>
            </a:r>
            <a:r>
              <a:rPr lang="en-US" dirty="0"/>
              <a:t> </a:t>
            </a:r>
            <a:r>
              <a:rPr lang="en-US" dirty="0" err="1"/>
              <a:t>keamanan</a:t>
            </a:r>
            <a:r>
              <a:rPr lang="en-US" dirty="0"/>
              <a:t> yang </a:t>
            </a:r>
            <a:r>
              <a:rPr lang="en-US" dirty="0" err="1"/>
              <a:t>dibutuhkan</a:t>
            </a:r>
            <a:r>
              <a:rPr lang="en-US" dirty="0"/>
              <a:t> user?</a:t>
            </a:r>
          </a:p>
          <a:p>
            <a:r>
              <a:rPr lang="en-US" dirty="0"/>
              <a:t>User</a:t>
            </a:r>
          </a:p>
          <a:p>
            <a:pPr lvl="1"/>
            <a:r>
              <a:rPr lang="en-US" dirty="0"/>
              <a:t>Ada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tingkatan</a:t>
            </a:r>
            <a:r>
              <a:rPr lang="en-US" dirty="0"/>
              <a:t> user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?</a:t>
            </a:r>
          </a:p>
          <a:p>
            <a:r>
              <a:rPr lang="en-US" dirty="0"/>
              <a:t>Data inside the pool</a:t>
            </a:r>
          </a:p>
          <a:p>
            <a:pPr lvl="1"/>
            <a:r>
              <a:rPr lang="en-US" dirty="0"/>
              <a:t>Data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dikelola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87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DD71C-927E-43D1-917D-3D441309B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Network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5FFB-636E-4281-A582-D3208E897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Directory services</a:t>
            </a:r>
          </a:p>
          <a:p>
            <a:r>
              <a:rPr lang="en-US" dirty="0"/>
              <a:t>e-Mail</a:t>
            </a:r>
          </a:p>
          <a:p>
            <a:r>
              <a:rPr lang="en-US" dirty="0"/>
              <a:t>File sharing</a:t>
            </a:r>
          </a:p>
          <a:p>
            <a:r>
              <a:rPr lang="en-US" dirty="0"/>
              <a:t>Instant messaging</a:t>
            </a:r>
          </a:p>
          <a:p>
            <a:r>
              <a:rPr lang="en-US" dirty="0"/>
              <a:t>Online game</a:t>
            </a:r>
          </a:p>
          <a:p>
            <a:r>
              <a:rPr lang="en-US" dirty="0"/>
              <a:t>Printing</a:t>
            </a:r>
          </a:p>
          <a:p>
            <a:r>
              <a:rPr lang="en-US" dirty="0"/>
              <a:t>File server</a:t>
            </a:r>
          </a:p>
          <a:p>
            <a:r>
              <a:rPr lang="en-US" dirty="0"/>
              <a:t>Voice over IP</a:t>
            </a:r>
          </a:p>
          <a:p>
            <a:r>
              <a:rPr lang="en-US" dirty="0"/>
              <a:t>Video on demand</a:t>
            </a:r>
          </a:p>
          <a:p>
            <a:r>
              <a:rPr lang="en-US" dirty="0"/>
              <a:t>Video telephony</a:t>
            </a:r>
          </a:p>
          <a:p>
            <a:r>
              <a:rPr lang="en-US" dirty="0"/>
              <a:t>World Wide Web</a:t>
            </a:r>
          </a:p>
          <a:p>
            <a:r>
              <a:rPr lang="en-US" dirty="0"/>
              <a:t>Simple Network Management Protocol</a:t>
            </a:r>
          </a:p>
          <a:p>
            <a:r>
              <a:rPr lang="en-US" dirty="0"/>
              <a:t>Time service</a:t>
            </a:r>
          </a:p>
          <a:p>
            <a:r>
              <a:rPr lang="en-US" dirty="0"/>
              <a:t>Wireless sensor network</a:t>
            </a:r>
          </a:p>
        </p:txBody>
      </p:sp>
    </p:spTree>
    <p:extLst>
      <p:ext uri="{BB962C8B-B14F-4D97-AF65-F5344CB8AC3E}">
        <p14:creationId xmlns:p14="http://schemas.microsoft.com/office/powerpoint/2010/main" val="328060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AAC4-2A61-4B46-ACB8-4EAAA459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Manage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5F3F7-2BB4-42C0-9E95-4D3CC445C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device</a:t>
            </a:r>
          </a:p>
          <a:p>
            <a:pPr lvl="1"/>
            <a:r>
              <a:rPr lang="en-US" dirty="0"/>
              <a:t>Cable, Router, Modem, Switches, Server</a:t>
            </a:r>
          </a:p>
          <a:p>
            <a:r>
              <a:rPr lang="en-US" dirty="0"/>
              <a:t>Network operating system</a:t>
            </a:r>
          </a:p>
          <a:p>
            <a:pPr lvl="1"/>
            <a:r>
              <a:rPr lang="en-US" dirty="0"/>
              <a:t>Windows, Linux</a:t>
            </a:r>
          </a:p>
        </p:txBody>
      </p:sp>
    </p:spTree>
    <p:extLst>
      <p:ext uri="{BB962C8B-B14F-4D97-AF65-F5344CB8AC3E}">
        <p14:creationId xmlns:p14="http://schemas.microsoft.com/office/powerpoint/2010/main" val="124231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85094-9471-4E4C-959D-B2FCBB512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Tugas</a:t>
            </a:r>
            <a:r>
              <a:rPr lang="en-US" b="1" dirty="0"/>
              <a:t> </a:t>
            </a:r>
            <a:r>
              <a:rPr lang="en-US" b="1" dirty="0" err="1"/>
              <a:t>diskusi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7C654-7670-40A3-93B0-F222E50F6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Dari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refleksimu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membaca</a:t>
            </a:r>
            <a:r>
              <a:rPr lang="en-US" dirty="0"/>
              <a:t> slide 13 dan 14. </a:t>
            </a:r>
            <a:r>
              <a:rPr lang="en-US" dirty="0" err="1"/>
              <a:t>Identifikasikan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SMK !!! </a:t>
            </a:r>
            <a:r>
              <a:rPr lang="en-US" dirty="0" err="1"/>
              <a:t>Isikan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: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A678811-6632-4CF2-B7A1-A91AA134288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390772" y="3586480"/>
          <a:ext cx="7682868" cy="2195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717">
                  <a:extLst>
                    <a:ext uri="{9D8B030D-6E8A-4147-A177-3AD203B41FA5}">
                      <a16:colId xmlns:a16="http://schemas.microsoft.com/office/drawing/2014/main" val="3094244085"/>
                    </a:ext>
                  </a:extLst>
                </a:gridCol>
                <a:gridCol w="1920717">
                  <a:extLst>
                    <a:ext uri="{9D8B030D-6E8A-4147-A177-3AD203B41FA5}">
                      <a16:colId xmlns:a16="http://schemas.microsoft.com/office/drawing/2014/main" val="1891296562"/>
                    </a:ext>
                  </a:extLst>
                </a:gridCol>
                <a:gridCol w="1920717">
                  <a:extLst>
                    <a:ext uri="{9D8B030D-6E8A-4147-A177-3AD203B41FA5}">
                      <a16:colId xmlns:a16="http://schemas.microsoft.com/office/drawing/2014/main" val="1774948638"/>
                    </a:ext>
                  </a:extLst>
                </a:gridCol>
                <a:gridCol w="1920717">
                  <a:extLst>
                    <a:ext uri="{9D8B030D-6E8A-4147-A177-3AD203B41FA5}">
                      <a16:colId xmlns:a16="http://schemas.microsoft.com/office/drawing/2014/main" val="2262009342"/>
                    </a:ext>
                  </a:extLst>
                </a:gridCol>
              </a:tblGrid>
              <a:tr h="1042573">
                <a:tc>
                  <a:txBody>
                    <a:bodyPr/>
                    <a:lstStyle/>
                    <a:p>
                      <a:r>
                        <a:rPr lang="en-US" dirty="0" err="1"/>
                        <a:t>Kebutuhan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Sistem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Kebutuhan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perangkat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Kebutuhan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layanan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jaringan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Kebutuhan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aplikasi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024846"/>
                  </a:ext>
                </a:extLst>
              </a:tr>
              <a:tr h="729801">
                <a:tc>
                  <a:txBody>
                    <a:bodyPr/>
                    <a:lstStyle/>
                    <a:p>
                      <a:r>
                        <a:rPr lang="en-US" dirty="0"/>
                        <a:t>Web </a:t>
                      </a:r>
                      <a:r>
                        <a:rPr lang="en-US" dirty="0" err="1"/>
                        <a:t>profil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http,dns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Apache, bind9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772213"/>
                  </a:ext>
                </a:extLst>
              </a:tr>
              <a:tr h="422821">
                <a:tc>
                  <a:txBody>
                    <a:bodyPr/>
                    <a:lstStyle/>
                    <a:p>
                      <a:r>
                        <a:rPr lang="en-US" dirty="0" err="1"/>
                        <a:t>Lanjutkan</a:t>
                      </a:r>
                      <a:r>
                        <a:rPr lang="en-US" dirty="0"/>
                        <a:t>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Lanjutkan</a:t>
                      </a:r>
                      <a:r>
                        <a:rPr lang="en-US" dirty="0"/>
                        <a:t>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Lanjutkan</a:t>
                      </a:r>
                      <a:r>
                        <a:rPr lang="en-US" dirty="0"/>
                        <a:t>……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Lanjutkan</a:t>
                      </a:r>
                      <a:r>
                        <a:rPr lang="en-US" dirty="0"/>
                        <a:t>……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10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55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85C4-ED44-4037-9094-8D78E42F3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Tugas</a:t>
            </a:r>
            <a:r>
              <a:rPr lang="en-US" b="1" dirty="0"/>
              <a:t> </a:t>
            </a:r>
            <a:r>
              <a:rPr lang="en-US" b="1" dirty="0" err="1"/>
              <a:t>praktikum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756A3-BF36-44AE-885F-2E73B2C12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,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menginstall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.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.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Menggunakan</a:t>
            </a:r>
            <a:r>
              <a:rPr lang="en-US" dirty="0"/>
              <a:t> search engine, </a:t>
            </a:r>
            <a:r>
              <a:rPr lang="en-US" dirty="0" err="1"/>
              <a:t>carilah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Pilih</a:t>
            </a:r>
            <a:r>
              <a:rPr lang="en-US" dirty="0"/>
              <a:t> salah 1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analisis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Dari </a:t>
            </a:r>
            <a:r>
              <a:rPr lang="en-US" dirty="0" smtClean="0"/>
              <a:t>CCNA1 </a:t>
            </a:r>
            <a:r>
              <a:rPr lang="en-US" dirty="0"/>
              <a:t>yang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carilah</a:t>
            </a:r>
            <a:r>
              <a:rPr lang="en-US" dirty="0"/>
              <a:t> </a:t>
            </a:r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/>
              <a:t>instalasi</a:t>
            </a:r>
            <a:r>
              <a:rPr lang="en-US" dirty="0"/>
              <a:t>, dan </a:t>
            </a:r>
            <a:r>
              <a:rPr lang="en-US" dirty="0" err="1"/>
              <a:t>kebutuhan</a:t>
            </a:r>
            <a:r>
              <a:rPr lang="en-US" dirty="0"/>
              <a:t> minimum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kerasnya</a:t>
            </a:r>
            <a:r>
              <a:rPr lang="en-US" dirty="0"/>
              <a:t> (minimum system requirements)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Install </a:t>
            </a:r>
            <a:r>
              <a:rPr lang="en-US" dirty="0"/>
              <a:t>CCNA1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virtualbox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buat</a:t>
            </a:r>
            <a:r>
              <a:rPr lang="en-US" dirty="0"/>
              <a:t> flowchart/</a:t>
            </a:r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/>
              <a:t>instalasi</a:t>
            </a:r>
            <a:r>
              <a:rPr lang="en-US" dirty="0"/>
              <a:t> </a:t>
            </a:r>
            <a:r>
              <a:rPr lang="en-US" dirty="0" err="1"/>
              <a:t>menurut</a:t>
            </a:r>
            <a:r>
              <a:rPr lang="en-US" dirty="0"/>
              <a:t> </a:t>
            </a:r>
            <a:r>
              <a:rPr lang="en-US" dirty="0" err="1"/>
              <a:t>versi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sendiri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Catat</a:t>
            </a:r>
            <a:r>
              <a:rPr lang="en-US" dirty="0"/>
              <a:t> Langkah 1 – 4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praktikum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Jika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keterbatasan</a:t>
            </a:r>
            <a:r>
              <a:rPr lang="en-US" dirty="0"/>
              <a:t> </a:t>
            </a:r>
            <a:r>
              <a:rPr lang="en-US" dirty="0" err="1"/>
              <a:t>fasilitas</a:t>
            </a:r>
            <a:r>
              <a:rPr lang="en-US" dirty="0"/>
              <a:t> </a:t>
            </a:r>
            <a:r>
              <a:rPr lang="en-US" dirty="0" err="1"/>
              <a:t>penunjang</a:t>
            </a:r>
            <a:r>
              <a:rPr lang="en-US" dirty="0"/>
              <a:t> </a:t>
            </a:r>
            <a:r>
              <a:rPr lang="en-US" dirty="0" err="1"/>
              <a:t>praktikum</a:t>
            </a:r>
            <a:r>
              <a:rPr lang="en-US" dirty="0"/>
              <a:t> </a:t>
            </a:r>
            <a:r>
              <a:rPr lang="en-US" dirty="0" err="1"/>
              <a:t>mandiri</a:t>
            </a:r>
            <a:r>
              <a:rPr lang="en-US" dirty="0"/>
              <a:t>,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dikerjakan</a:t>
            </a:r>
            <a:r>
              <a:rPr lang="en-US" dirty="0"/>
              <a:t> </a:t>
            </a:r>
            <a:r>
              <a:rPr lang="en-US" dirty="0" err="1"/>
              <a:t>berkelompok</a:t>
            </a:r>
            <a:r>
              <a:rPr lang="en-US" dirty="0"/>
              <a:t>, 1 </a:t>
            </a:r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smtClean="0"/>
              <a:t>3 </a:t>
            </a:r>
            <a:r>
              <a:rPr lang="en-US" dirty="0" err="1"/>
              <a:t>mahasiswa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08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5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23714</TotalTime>
  <Words>817</Words>
  <Application>Microsoft Office PowerPoint</Application>
  <PresentationFormat>Widescreen</PresentationFormat>
  <Paragraphs>151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맑은 고딕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Topology</vt:lpstr>
      <vt:lpstr>Server ?</vt:lpstr>
      <vt:lpstr>PowerPoint Presentation</vt:lpstr>
      <vt:lpstr>Administrasi Jaringan Komputer</vt:lpstr>
      <vt:lpstr>Router Hardware</vt:lpstr>
      <vt:lpstr>KOMPONEN SISTEM JARINGAN KOMPUTER</vt:lpstr>
      <vt:lpstr>ADMINISTRATOR</vt:lpstr>
      <vt:lpstr>LAYANAN JARINGAN KOMPUTER</vt:lpstr>
      <vt:lpstr>USER</vt:lpstr>
      <vt:lpstr>Contoh infrastruktur jaringan komputer</vt:lpstr>
      <vt:lpstr>Contoh 2 – topologi data center instansi pendidikan</vt:lpstr>
      <vt:lpstr>Pertanyaan</vt:lpstr>
      <vt:lpstr>Who managed?</vt:lpstr>
      <vt:lpstr>Computer technician</vt:lpstr>
      <vt:lpstr>Network administrator</vt:lpstr>
      <vt:lpstr>System administrator</vt:lpstr>
      <vt:lpstr>What managed?</vt:lpstr>
      <vt:lpstr>Network Services</vt:lpstr>
      <vt:lpstr>How to Manage</vt:lpstr>
      <vt:lpstr>Tugas diskusi</vt:lpstr>
      <vt:lpstr>Tugas praktikum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pds</dc:title>
  <dc:creator>pds</dc:creator>
  <cp:lastModifiedBy>PDS</cp:lastModifiedBy>
  <cp:revision>175</cp:revision>
  <dcterms:created xsi:type="dcterms:W3CDTF">2024-07-11T17:06:45Z</dcterms:created>
  <dcterms:modified xsi:type="dcterms:W3CDTF">2026-09-07T02:42:41Z</dcterms:modified>
</cp:coreProperties>
</file>